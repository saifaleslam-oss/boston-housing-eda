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Default Extension="png" ContentType="image/png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761999" y="1534159"/>
            <a:ext cx="371475" cy="371475"/>
          </a:xfrm>
          <a:custGeom>
            <a:avLst/>
            <a:gdLst/>
            <a:ahLst/>
            <a:cxnLst/>
            <a:rect l="l" t="t" r="r" b="b"/>
            <a:pathLst>
              <a:path w="371475" h="371475">
                <a:moveTo>
                  <a:pt x="185737" y="371474"/>
                </a:moveTo>
                <a:lnTo>
                  <a:pt x="140595" y="365907"/>
                </a:lnTo>
                <a:lnTo>
                  <a:pt x="98180" y="349545"/>
                </a:lnTo>
                <a:lnTo>
                  <a:pt x="61011" y="323368"/>
                </a:lnTo>
                <a:lnTo>
                  <a:pt x="31302" y="288927"/>
                </a:lnTo>
                <a:lnTo>
                  <a:pt x="10852" y="248300"/>
                </a:lnTo>
                <a:lnTo>
                  <a:pt x="892" y="203943"/>
                </a:lnTo>
                <a:lnTo>
                  <a:pt x="0" y="185737"/>
                </a:lnTo>
                <a:lnTo>
                  <a:pt x="223" y="176612"/>
                </a:lnTo>
                <a:lnTo>
                  <a:pt x="7995" y="131820"/>
                </a:lnTo>
                <a:lnTo>
                  <a:pt x="26418" y="90258"/>
                </a:lnTo>
                <a:lnTo>
                  <a:pt x="54401" y="54401"/>
                </a:lnTo>
                <a:lnTo>
                  <a:pt x="90258" y="26418"/>
                </a:lnTo>
                <a:lnTo>
                  <a:pt x="131820" y="7995"/>
                </a:lnTo>
                <a:lnTo>
                  <a:pt x="176612" y="223"/>
                </a:lnTo>
                <a:lnTo>
                  <a:pt x="185737" y="0"/>
                </a:lnTo>
                <a:lnTo>
                  <a:pt x="194862" y="223"/>
                </a:lnTo>
                <a:lnTo>
                  <a:pt x="239654" y="7995"/>
                </a:lnTo>
                <a:lnTo>
                  <a:pt x="281216" y="26418"/>
                </a:lnTo>
                <a:lnTo>
                  <a:pt x="317073" y="54401"/>
                </a:lnTo>
                <a:lnTo>
                  <a:pt x="345056" y="90258"/>
                </a:lnTo>
                <a:lnTo>
                  <a:pt x="363479" y="131820"/>
                </a:lnTo>
                <a:lnTo>
                  <a:pt x="371251" y="176612"/>
                </a:lnTo>
                <a:lnTo>
                  <a:pt x="371474" y="185737"/>
                </a:lnTo>
                <a:lnTo>
                  <a:pt x="371251" y="194862"/>
                </a:lnTo>
                <a:lnTo>
                  <a:pt x="363479" y="239654"/>
                </a:lnTo>
                <a:lnTo>
                  <a:pt x="345056" y="281216"/>
                </a:lnTo>
                <a:lnTo>
                  <a:pt x="317073" y="317073"/>
                </a:lnTo>
                <a:lnTo>
                  <a:pt x="281216" y="345056"/>
                </a:lnTo>
                <a:lnTo>
                  <a:pt x="239654" y="363479"/>
                </a:lnTo>
                <a:lnTo>
                  <a:pt x="194862" y="371251"/>
                </a:lnTo>
                <a:lnTo>
                  <a:pt x="185737" y="3714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63389" y="973448"/>
            <a:ext cx="15032990" cy="3911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200" b="0" i="0">
                <a:solidFill>
                  <a:srgbClr val="003479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41809" y="6152514"/>
            <a:ext cx="15832455" cy="2578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200" b="0" i="0">
                <a:solidFill>
                  <a:srgbClr val="003479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200" b="0" i="0">
                <a:solidFill>
                  <a:srgbClr val="003479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200" b="0" i="0">
                <a:solidFill>
                  <a:srgbClr val="003479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70533" y="826198"/>
            <a:ext cx="14833600" cy="16797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200" b="0" i="0">
                <a:solidFill>
                  <a:srgbClr val="003479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0286" y="2856430"/>
            <a:ext cx="16944340" cy="6659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92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0" spc="-575"/>
              <a:t>Boston</a:t>
            </a:r>
            <a:r>
              <a:rPr dirty="0" sz="9500" spc="-685"/>
              <a:t> </a:t>
            </a:r>
            <a:r>
              <a:rPr dirty="0" sz="9500" spc="-470"/>
              <a:t>Housing</a:t>
            </a:r>
            <a:r>
              <a:rPr dirty="0" sz="9500" spc="-685"/>
              <a:t> </a:t>
            </a:r>
            <a:r>
              <a:rPr dirty="0" sz="9500" spc="-620"/>
              <a:t>Analysis</a:t>
            </a:r>
            <a:endParaRPr sz="9500"/>
          </a:p>
        </p:txBody>
      </p:sp>
      <p:sp>
        <p:nvSpPr>
          <p:cNvPr id="3" name="object 3"/>
          <p:cNvSpPr txBox="1"/>
          <p:nvPr/>
        </p:nvSpPr>
        <p:spPr>
          <a:xfrm>
            <a:off x="4207842" y="3965464"/>
            <a:ext cx="9872345" cy="3088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5400" spc="-254" b="1">
                <a:latin typeface="Arial"/>
                <a:cs typeface="Arial"/>
              </a:rPr>
              <a:t>Exploratory</a:t>
            </a:r>
            <a:r>
              <a:rPr dirty="0" sz="5400" spc="-120" b="1">
                <a:latin typeface="Arial"/>
                <a:cs typeface="Arial"/>
              </a:rPr>
              <a:t> </a:t>
            </a:r>
            <a:r>
              <a:rPr dirty="0" sz="5400" spc="-10" b="1">
                <a:latin typeface="Arial"/>
                <a:cs typeface="Arial"/>
              </a:rPr>
              <a:t>Data</a:t>
            </a:r>
            <a:r>
              <a:rPr dirty="0" sz="5400" spc="-190" b="1">
                <a:latin typeface="Arial"/>
                <a:cs typeface="Arial"/>
              </a:rPr>
              <a:t> </a:t>
            </a:r>
            <a:r>
              <a:rPr dirty="0" sz="5400" spc="-275" b="1">
                <a:latin typeface="Arial"/>
                <a:cs typeface="Arial"/>
              </a:rPr>
              <a:t>Analysis</a:t>
            </a:r>
            <a:r>
              <a:rPr dirty="0" sz="5400" spc="-100" b="1">
                <a:latin typeface="Arial"/>
                <a:cs typeface="Arial"/>
              </a:rPr>
              <a:t> </a:t>
            </a:r>
            <a:r>
              <a:rPr dirty="0" sz="5400" spc="-60" b="1">
                <a:latin typeface="Arial"/>
                <a:cs typeface="Arial"/>
              </a:rPr>
              <a:t>(EDA)</a:t>
            </a:r>
            <a:endParaRPr sz="5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185"/>
              </a:spcBef>
            </a:pPr>
            <a:endParaRPr sz="5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sz="5200" spc="-135" b="1">
                <a:latin typeface="Arial"/>
                <a:cs typeface="Arial"/>
              </a:rPr>
              <a:t>Prepared</a:t>
            </a:r>
            <a:r>
              <a:rPr dirty="0" sz="5200" spc="-220" b="1">
                <a:latin typeface="Arial"/>
                <a:cs typeface="Arial"/>
              </a:rPr>
              <a:t> </a:t>
            </a:r>
            <a:r>
              <a:rPr dirty="0" sz="5200" spc="-155" b="1">
                <a:latin typeface="Arial"/>
                <a:cs typeface="Arial"/>
              </a:rPr>
              <a:t>by:</a:t>
            </a:r>
            <a:r>
              <a:rPr dirty="0" sz="5200" spc="-210" b="1">
                <a:latin typeface="Arial"/>
                <a:cs typeface="Arial"/>
              </a:rPr>
              <a:t> </a:t>
            </a:r>
            <a:r>
              <a:rPr dirty="0" sz="5200" spc="-100" b="1">
                <a:latin typeface="Arial"/>
                <a:cs typeface="Arial"/>
              </a:rPr>
              <a:t>Saif</a:t>
            </a:r>
            <a:r>
              <a:rPr dirty="0" sz="5200" spc="-210" b="1">
                <a:latin typeface="Arial"/>
                <a:cs typeface="Arial"/>
              </a:rPr>
              <a:t> </a:t>
            </a:r>
            <a:r>
              <a:rPr dirty="0" sz="5200" spc="-70" b="1">
                <a:latin typeface="Arial"/>
                <a:cs typeface="Arial"/>
              </a:rPr>
              <a:t>Aleslam</a:t>
            </a:r>
            <a:endParaRPr sz="5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43187" y="2674116"/>
            <a:ext cx="15172690" cy="0"/>
          </a:xfrm>
          <a:custGeom>
            <a:avLst/>
            <a:gdLst/>
            <a:ahLst/>
            <a:cxnLst/>
            <a:rect l="l" t="t" r="r" b="b"/>
            <a:pathLst>
              <a:path w="15172690" h="0">
                <a:moveTo>
                  <a:pt x="0" y="0"/>
                </a:moveTo>
                <a:lnTo>
                  <a:pt x="15172634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399"/>
              </a:lnSpc>
              <a:spcBef>
                <a:spcPts val="100"/>
              </a:spcBef>
            </a:pPr>
            <a:r>
              <a:rPr dirty="0" sz="7300" spc="155">
                <a:solidFill>
                  <a:srgbClr val="000000"/>
                </a:solidFill>
                <a:latin typeface="Lucida Sans Unicode"/>
                <a:cs typeface="Lucida Sans Unicode"/>
              </a:rPr>
              <a:t>In</a:t>
            </a:r>
            <a:r>
              <a:rPr dirty="0" sz="7300" spc="-395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7300" spc="-170">
                <a:solidFill>
                  <a:srgbClr val="000000"/>
                </a:solidFill>
                <a:latin typeface="Lucida Sans Unicode"/>
                <a:cs typeface="Lucida Sans Unicode"/>
              </a:rPr>
              <a:t>this</a:t>
            </a:r>
            <a:r>
              <a:rPr dirty="0" sz="7300" spc="-39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7300" spc="-190">
                <a:solidFill>
                  <a:srgbClr val="000000"/>
                </a:solidFill>
                <a:latin typeface="Lucida Sans Unicode"/>
                <a:cs typeface="Lucida Sans Unicode"/>
              </a:rPr>
              <a:t>project,</a:t>
            </a:r>
            <a:r>
              <a:rPr dirty="0" sz="7300" spc="-39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7300" spc="355">
                <a:solidFill>
                  <a:srgbClr val="000000"/>
                </a:solidFill>
                <a:latin typeface="Lucida Sans Unicode"/>
                <a:cs typeface="Lucida Sans Unicode"/>
              </a:rPr>
              <a:t>I</a:t>
            </a:r>
            <a:r>
              <a:rPr dirty="0" sz="7300" spc="-39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7300" spc="-10">
                <a:solidFill>
                  <a:srgbClr val="000000"/>
                </a:solidFill>
                <a:latin typeface="Lucida Sans Unicode"/>
                <a:cs typeface="Lucida Sans Unicode"/>
              </a:rPr>
              <a:t>performed </a:t>
            </a:r>
            <a:r>
              <a:rPr dirty="0" sz="7300" spc="-135">
                <a:solidFill>
                  <a:srgbClr val="000000"/>
                </a:solidFill>
                <a:latin typeface="Lucida Sans Unicode"/>
                <a:cs typeface="Lucida Sans Unicode"/>
              </a:rPr>
              <a:t>Exploratory</a:t>
            </a:r>
            <a:r>
              <a:rPr dirty="0" sz="7300" spc="-415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7300" spc="-20">
                <a:solidFill>
                  <a:srgbClr val="000000"/>
                </a:solidFill>
                <a:latin typeface="Lucida Sans Unicode"/>
                <a:cs typeface="Lucida Sans Unicode"/>
              </a:rPr>
              <a:t>Data</a:t>
            </a:r>
            <a:r>
              <a:rPr dirty="0" sz="7300" spc="-409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7300" spc="-200">
                <a:solidFill>
                  <a:srgbClr val="000000"/>
                </a:solidFill>
                <a:latin typeface="Lucida Sans Unicode"/>
                <a:cs typeface="Lucida Sans Unicode"/>
              </a:rPr>
              <a:t>Analysis</a:t>
            </a:r>
            <a:r>
              <a:rPr dirty="0" sz="7300" spc="-415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7300" spc="-215">
                <a:solidFill>
                  <a:srgbClr val="000000"/>
                </a:solidFill>
                <a:latin typeface="Lucida Sans Unicode"/>
                <a:cs typeface="Lucida Sans Unicode"/>
              </a:rPr>
              <a:t>(EDA)</a:t>
            </a:r>
            <a:r>
              <a:rPr dirty="0" sz="7300" spc="-409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7300" spc="-25">
                <a:solidFill>
                  <a:srgbClr val="000000"/>
                </a:solidFill>
                <a:latin typeface="Lucida Sans Unicode"/>
                <a:cs typeface="Lucida Sans Unicode"/>
              </a:rPr>
              <a:t>on </a:t>
            </a:r>
            <a:r>
              <a:rPr dirty="0" sz="7300">
                <a:solidFill>
                  <a:srgbClr val="000000"/>
                </a:solidFill>
                <a:latin typeface="Lucida Sans Unicode"/>
                <a:cs typeface="Lucida Sans Unicode"/>
              </a:rPr>
              <a:t>the</a:t>
            </a:r>
            <a:r>
              <a:rPr dirty="0" sz="7300" spc="-53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7300">
                <a:solidFill>
                  <a:srgbClr val="000000"/>
                </a:solidFill>
                <a:latin typeface="Lucida Sans Unicode"/>
                <a:cs typeface="Lucida Sans Unicode"/>
              </a:rPr>
              <a:t>Boston</a:t>
            </a:r>
            <a:r>
              <a:rPr dirty="0" sz="7300" spc="-50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7300" spc="-110">
                <a:solidFill>
                  <a:srgbClr val="000000"/>
                </a:solidFill>
                <a:latin typeface="Lucida Sans Unicode"/>
                <a:cs typeface="Lucida Sans Unicode"/>
              </a:rPr>
              <a:t>Housing</a:t>
            </a:r>
            <a:r>
              <a:rPr dirty="0" sz="7300" spc="-465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7300" spc="-10">
                <a:solidFill>
                  <a:srgbClr val="000000"/>
                </a:solidFill>
                <a:latin typeface="Lucida Sans Unicode"/>
                <a:cs typeface="Lucida Sans Unicode"/>
              </a:rPr>
              <a:t>dataset.</a:t>
            </a:r>
            <a:endParaRPr sz="73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1999" y="6715759"/>
            <a:ext cx="361950" cy="361950"/>
          </a:xfrm>
          <a:custGeom>
            <a:avLst/>
            <a:gdLst/>
            <a:ahLst/>
            <a:cxnLst/>
            <a:rect l="l" t="t" r="r" b="b"/>
            <a:pathLst>
              <a:path w="361950" h="361950">
                <a:moveTo>
                  <a:pt x="180974" y="361949"/>
                </a:moveTo>
                <a:lnTo>
                  <a:pt x="136990" y="356524"/>
                </a:lnTo>
                <a:lnTo>
                  <a:pt x="95662" y="340581"/>
                </a:lnTo>
                <a:lnTo>
                  <a:pt x="59446" y="315075"/>
                </a:lnTo>
                <a:lnTo>
                  <a:pt x="30499" y="281518"/>
                </a:lnTo>
                <a:lnTo>
                  <a:pt x="10574" y="241932"/>
                </a:lnTo>
                <a:lnTo>
                  <a:pt x="869" y="198713"/>
                </a:lnTo>
                <a:lnTo>
                  <a:pt x="0" y="180974"/>
                </a:lnTo>
                <a:lnTo>
                  <a:pt x="217" y="172084"/>
                </a:lnTo>
                <a:lnTo>
                  <a:pt x="7790" y="128439"/>
                </a:lnTo>
                <a:lnTo>
                  <a:pt x="25740" y="87943"/>
                </a:lnTo>
                <a:lnTo>
                  <a:pt x="53006" y="53006"/>
                </a:lnTo>
                <a:lnTo>
                  <a:pt x="87943" y="25740"/>
                </a:lnTo>
                <a:lnTo>
                  <a:pt x="128440" y="7790"/>
                </a:lnTo>
                <a:lnTo>
                  <a:pt x="172084" y="217"/>
                </a:lnTo>
                <a:lnTo>
                  <a:pt x="180974" y="0"/>
                </a:lnTo>
                <a:lnTo>
                  <a:pt x="189865" y="217"/>
                </a:lnTo>
                <a:lnTo>
                  <a:pt x="233509" y="7790"/>
                </a:lnTo>
                <a:lnTo>
                  <a:pt x="274005" y="25740"/>
                </a:lnTo>
                <a:lnTo>
                  <a:pt x="308943" y="53006"/>
                </a:lnTo>
                <a:lnTo>
                  <a:pt x="336208" y="87943"/>
                </a:lnTo>
                <a:lnTo>
                  <a:pt x="354159" y="128439"/>
                </a:lnTo>
                <a:lnTo>
                  <a:pt x="361732" y="172084"/>
                </a:lnTo>
                <a:lnTo>
                  <a:pt x="361949" y="180974"/>
                </a:lnTo>
                <a:lnTo>
                  <a:pt x="361732" y="189865"/>
                </a:lnTo>
                <a:lnTo>
                  <a:pt x="354159" y="233509"/>
                </a:lnTo>
                <a:lnTo>
                  <a:pt x="336208" y="274005"/>
                </a:lnTo>
                <a:lnTo>
                  <a:pt x="308943" y="308942"/>
                </a:lnTo>
                <a:lnTo>
                  <a:pt x="274005" y="336207"/>
                </a:lnTo>
                <a:lnTo>
                  <a:pt x="233509" y="354158"/>
                </a:lnTo>
                <a:lnTo>
                  <a:pt x="189865" y="361732"/>
                </a:lnTo>
                <a:lnTo>
                  <a:pt x="180974" y="3619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ubTitle" idx="4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300"/>
              </a:lnSpc>
              <a:spcBef>
                <a:spcPts val="100"/>
              </a:spcBef>
            </a:pPr>
            <a:r>
              <a:rPr dirty="0" sz="7200" spc="-200"/>
              <a:t>The</a:t>
            </a:r>
            <a:r>
              <a:rPr dirty="0" sz="7200" spc="-409"/>
              <a:t> </a:t>
            </a:r>
            <a:r>
              <a:rPr dirty="0" sz="7200" spc="-80"/>
              <a:t>goal</a:t>
            </a:r>
            <a:r>
              <a:rPr dirty="0" sz="7200" spc="-490"/>
              <a:t> </a:t>
            </a:r>
            <a:r>
              <a:rPr dirty="0" sz="7200" spc="-254"/>
              <a:t>is</a:t>
            </a:r>
            <a:r>
              <a:rPr dirty="0" sz="7200" spc="-409"/>
              <a:t> </a:t>
            </a:r>
            <a:r>
              <a:rPr dirty="0" sz="7200" spc="-45"/>
              <a:t>to</a:t>
            </a:r>
            <a:r>
              <a:rPr dirty="0" sz="7200" spc="-525"/>
              <a:t> </a:t>
            </a:r>
            <a:r>
              <a:rPr dirty="0" sz="7200" spc="-60"/>
              <a:t>understand</a:t>
            </a:r>
            <a:r>
              <a:rPr dirty="0" sz="7200" spc="-509"/>
              <a:t> </a:t>
            </a:r>
            <a:r>
              <a:rPr dirty="0" sz="7200"/>
              <a:t>the</a:t>
            </a:r>
            <a:r>
              <a:rPr dirty="0" sz="7200" spc="-490"/>
              <a:t> </a:t>
            </a:r>
            <a:r>
              <a:rPr dirty="0" sz="7200" spc="-25"/>
              <a:t>factors that</a:t>
            </a:r>
            <a:r>
              <a:rPr dirty="0" sz="7200" spc="-505"/>
              <a:t> </a:t>
            </a:r>
            <a:r>
              <a:rPr dirty="0" sz="7200" spc="-105"/>
              <a:t>affect</a:t>
            </a:r>
            <a:r>
              <a:rPr dirty="0" sz="7200" spc="-459"/>
              <a:t> </a:t>
            </a:r>
            <a:r>
              <a:rPr dirty="0" sz="7200" spc="-65"/>
              <a:t>house</a:t>
            </a:r>
            <a:r>
              <a:rPr dirty="0" sz="7200" spc="-484"/>
              <a:t> </a:t>
            </a:r>
            <a:r>
              <a:rPr dirty="0" sz="7200" spc="-10"/>
              <a:t>prices.</a:t>
            </a:r>
            <a:endParaRPr sz="7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59785">
              <a:lnSpc>
                <a:spcPct val="100000"/>
              </a:lnSpc>
              <a:spcBef>
                <a:spcPts val="100"/>
              </a:spcBef>
            </a:pPr>
            <a:r>
              <a:rPr dirty="0" spc="-525"/>
              <a:t>Dataset</a:t>
            </a:r>
            <a:r>
              <a:rPr dirty="0" spc="-675"/>
              <a:t> </a:t>
            </a:r>
            <a:r>
              <a:rPr dirty="0" spc="-505"/>
              <a:t>Overview</a:t>
            </a:r>
          </a:p>
        </p:txBody>
      </p:sp>
      <p:sp>
        <p:nvSpPr>
          <p:cNvPr id="3" name="object 3"/>
          <p:cNvSpPr/>
          <p:nvPr/>
        </p:nvSpPr>
        <p:spPr>
          <a:xfrm>
            <a:off x="3872583" y="2423794"/>
            <a:ext cx="10875010" cy="0"/>
          </a:xfrm>
          <a:custGeom>
            <a:avLst/>
            <a:gdLst/>
            <a:ahLst/>
            <a:cxnLst/>
            <a:rect l="l" t="t" r="r" b="b"/>
            <a:pathLst>
              <a:path w="10875010" h="0">
                <a:moveTo>
                  <a:pt x="0" y="0"/>
                </a:moveTo>
                <a:lnTo>
                  <a:pt x="10874467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80198" y="3501614"/>
            <a:ext cx="295275" cy="295275"/>
          </a:xfrm>
          <a:custGeom>
            <a:avLst/>
            <a:gdLst/>
            <a:ahLst/>
            <a:cxnLst/>
            <a:rect l="l" t="t" r="r" b="b"/>
            <a:pathLst>
              <a:path w="295275" h="295275">
                <a:moveTo>
                  <a:pt x="147637" y="295274"/>
                </a:moveTo>
                <a:lnTo>
                  <a:pt x="104780" y="288919"/>
                </a:lnTo>
                <a:lnTo>
                  <a:pt x="65614" y="270393"/>
                </a:lnTo>
                <a:lnTo>
                  <a:pt x="33510" y="241298"/>
                </a:lnTo>
                <a:lnTo>
                  <a:pt x="11238" y="204135"/>
                </a:lnTo>
                <a:lnTo>
                  <a:pt x="709" y="162108"/>
                </a:lnTo>
                <a:lnTo>
                  <a:pt x="0" y="147637"/>
                </a:lnTo>
                <a:lnTo>
                  <a:pt x="177" y="140384"/>
                </a:lnTo>
                <a:lnTo>
                  <a:pt x="8626" y="97907"/>
                </a:lnTo>
                <a:lnTo>
                  <a:pt x="29058" y="59682"/>
                </a:lnTo>
                <a:lnTo>
                  <a:pt x="59682" y="29058"/>
                </a:lnTo>
                <a:lnTo>
                  <a:pt x="97907" y="8626"/>
                </a:lnTo>
                <a:lnTo>
                  <a:pt x="140384" y="177"/>
                </a:lnTo>
                <a:lnTo>
                  <a:pt x="147637" y="0"/>
                </a:lnTo>
                <a:lnTo>
                  <a:pt x="154890" y="177"/>
                </a:lnTo>
                <a:lnTo>
                  <a:pt x="197367" y="8626"/>
                </a:lnTo>
                <a:lnTo>
                  <a:pt x="235592" y="29058"/>
                </a:lnTo>
                <a:lnTo>
                  <a:pt x="266216" y="59682"/>
                </a:lnTo>
                <a:lnTo>
                  <a:pt x="286648" y="97907"/>
                </a:lnTo>
                <a:lnTo>
                  <a:pt x="295097" y="140384"/>
                </a:lnTo>
                <a:lnTo>
                  <a:pt x="295274" y="147637"/>
                </a:lnTo>
                <a:lnTo>
                  <a:pt x="295097" y="154890"/>
                </a:lnTo>
                <a:lnTo>
                  <a:pt x="286648" y="197367"/>
                </a:lnTo>
                <a:lnTo>
                  <a:pt x="266216" y="235592"/>
                </a:lnTo>
                <a:lnTo>
                  <a:pt x="235592" y="266216"/>
                </a:lnTo>
                <a:lnTo>
                  <a:pt x="197367" y="286648"/>
                </a:lnTo>
                <a:lnTo>
                  <a:pt x="154890" y="295097"/>
                </a:lnTo>
                <a:lnTo>
                  <a:pt x="147637" y="2952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80198" y="4549364"/>
            <a:ext cx="295275" cy="295275"/>
          </a:xfrm>
          <a:custGeom>
            <a:avLst/>
            <a:gdLst/>
            <a:ahLst/>
            <a:cxnLst/>
            <a:rect l="l" t="t" r="r" b="b"/>
            <a:pathLst>
              <a:path w="295275" h="295275">
                <a:moveTo>
                  <a:pt x="147637" y="295274"/>
                </a:moveTo>
                <a:lnTo>
                  <a:pt x="104780" y="288919"/>
                </a:lnTo>
                <a:lnTo>
                  <a:pt x="65614" y="270393"/>
                </a:lnTo>
                <a:lnTo>
                  <a:pt x="33510" y="241298"/>
                </a:lnTo>
                <a:lnTo>
                  <a:pt x="11238" y="204135"/>
                </a:lnTo>
                <a:lnTo>
                  <a:pt x="709" y="162108"/>
                </a:lnTo>
                <a:lnTo>
                  <a:pt x="0" y="147637"/>
                </a:lnTo>
                <a:lnTo>
                  <a:pt x="177" y="140384"/>
                </a:lnTo>
                <a:lnTo>
                  <a:pt x="8626" y="97907"/>
                </a:lnTo>
                <a:lnTo>
                  <a:pt x="29058" y="59682"/>
                </a:lnTo>
                <a:lnTo>
                  <a:pt x="59682" y="29058"/>
                </a:lnTo>
                <a:lnTo>
                  <a:pt x="97907" y="8626"/>
                </a:lnTo>
                <a:lnTo>
                  <a:pt x="140384" y="177"/>
                </a:lnTo>
                <a:lnTo>
                  <a:pt x="147637" y="0"/>
                </a:lnTo>
                <a:lnTo>
                  <a:pt x="154890" y="177"/>
                </a:lnTo>
                <a:lnTo>
                  <a:pt x="197367" y="8626"/>
                </a:lnTo>
                <a:lnTo>
                  <a:pt x="235592" y="29058"/>
                </a:lnTo>
                <a:lnTo>
                  <a:pt x="266216" y="59682"/>
                </a:lnTo>
                <a:lnTo>
                  <a:pt x="286648" y="97907"/>
                </a:lnTo>
                <a:lnTo>
                  <a:pt x="295097" y="140384"/>
                </a:lnTo>
                <a:lnTo>
                  <a:pt x="295274" y="147637"/>
                </a:lnTo>
                <a:lnTo>
                  <a:pt x="295097" y="154890"/>
                </a:lnTo>
                <a:lnTo>
                  <a:pt x="286648" y="197366"/>
                </a:lnTo>
                <a:lnTo>
                  <a:pt x="266216" y="235592"/>
                </a:lnTo>
                <a:lnTo>
                  <a:pt x="235592" y="266216"/>
                </a:lnTo>
                <a:lnTo>
                  <a:pt x="197367" y="286648"/>
                </a:lnTo>
                <a:lnTo>
                  <a:pt x="154890" y="295097"/>
                </a:lnTo>
                <a:lnTo>
                  <a:pt x="147637" y="2952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80198" y="5597114"/>
            <a:ext cx="295275" cy="295275"/>
          </a:xfrm>
          <a:custGeom>
            <a:avLst/>
            <a:gdLst/>
            <a:ahLst/>
            <a:cxnLst/>
            <a:rect l="l" t="t" r="r" b="b"/>
            <a:pathLst>
              <a:path w="295275" h="295275">
                <a:moveTo>
                  <a:pt x="147637" y="295274"/>
                </a:moveTo>
                <a:lnTo>
                  <a:pt x="104780" y="288918"/>
                </a:lnTo>
                <a:lnTo>
                  <a:pt x="65614" y="270393"/>
                </a:lnTo>
                <a:lnTo>
                  <a:pt x="33510" y="241298"/>
                </a:lnTo>
                <a:lnTo>
                  <a:pt x="11238" y="204135"/>
                </a:lnTo>
                <a:lnTo>
                  <a:pt x="709" y="162108"/>
                </a:lnTo>
                <a:lnTo>
                  <a:pt x="0" y="147637"/>
                </a:lnTo>
                <a:lnTo>
                  <a:pt x="177" y="140384"/>
                </a:lnTo>
                <a:lnTo>
                  <a:pt x="8626" y="97907"/>
                </a:lnTo>
                <a:lnTo>
                  <a:pt x="29058" y="59682"/>
                </a:lnTo>
                <a:lnTo>
                  <a:pt x="59682" y="29058"/>
                </a:lnTo>
                <a:lnTo>
                  <a:pt x="97907" y="8626"/>
                </a:lnTo>
                <a:lnTo>
                  <a:pt x="140384" y="177"/>
                </a:lnTo>
                <a:lnTo>
                  <a:pt x="147637" y="0"/>
                </a:lnTo>
                <a:lnTo>
                  <a:pt x="154890" y="177"/>
                </a:lnTo>
                <a:lnTo>
                  <a:pt x="197367" y="8626"/>
                </a:lnTo>
                <a:lnTo>
                  <a:pt x="235592" y="29058"/>
                </a:lnTo>
                <a:lnTo>
                  <a:pt x="266216" y="59682"/>
                </a:lnTo>
                <a:lnTo>
                  <a:pt x="286648" y="97907"/>
                </a:lnTo>
                <a:lnTo>
                  <a:pt x="295097" y="140384"/>
                </a:lnTo>
                <a:lnTo>
                  <a:pt x="295274" y="147637"/>
                </a:lnTo>
                <a:lnTo>
                  <a:pt x="295097" y="154890"/>
                </a:lnTo>
                <a:lnTo>
                  <a:pt x="286648" y="197366"/>
                </a:lnTo>
                <a:lnTo>
                  <a:pt x="266216" y="235592"/>
                </a:lnTo>
                <a:lnTo>
                  <a:pt x="235592" y="266216"/>
                </a:lnTo>
                <a:lnTo>
                  <a:pt x="197367" y="286648"/>
                </a:lnTo>
                <a:lnTo>
                  <a:pt x="154890" y="295097"/>
                </a:lnTo>
                <a:lnTo>
                  <a:pt x="147637" y="2952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80198" y="6644864"/>
            <a:ext cx="295275" cy="295275"/>
          </a:xfrm>
          <a:custGeom>
            <a:avLst/>
            <a:gdLst/>
            <a:ahLst/>
            <a:cxnLst/>
            <a:rect l="l" t="t" r="r" b="b"/>
            <a:pathLst>
              <a:path w="295275" h="295275">
                <a:moveTo>
                  <a:pt x="147637" y="295274"/>
                </a:moveTo>
                <a:lnTo>
                  <a:pt x="104780" y="288919"/>
                </a:lnTo>
                <a:lnTo>
                  <a:pt x="65614" y="270393"/>
                </a:lnTo>
                <a:lnTo>
                  <a:pt x="33510" y="241298"/>
                </a:lnTo>
                <a:lnTo>
                  <a:pt x="11238" y="204135"/>
                </a:lnTo>
                <a:lnTo>
                  <a:pt x="709" y="162108"/>
                </a:lnTo>
                <a:lnTo>
                  <a:pt x="0" y="147637"/>
                </a:lnTo>
                <a:lnTo>
                  <a:pt x="177" y="140384"/>
                </a:lnTo>
                <a:lnTo>
                  <a:pt x="8626" y="97907"/>
                </a:lnTo>
                <a:lnTo>
                  <a:pt x="29058" y="59682"/>
                </a:lnTo>
                <a:lnTo>
                  <a:pt x="59682" y="29058"/>
                </a:lnTo>
                <a:lnTo>
                  <a:pt x="97907" y="8626"/>
                </a:lnTo>
                <a:lnTo>
                  <a:pt x="140384" y="177"/>
                </a:lnTo>
                <a:lnTo>
                  <a:pt x="147637" y="0"/>
                </a:lnTo>
                <a:lnTo>
                  <a:pt x="154890" y="177"/>
                </a:lnTo>
                <a:lnTo>
                  <a:pt x="197367" y="8626"/>
                </a:lnTo>
                <a:lnTo>
                  <a:pt x="235592" y="29058"/>
                </a:lnTo>
                <a:lnTo>
                  <a:pt x="266216" y="59682"/>
                </a:lnTo>
                <a:lnTo>
                  <a:pt x="286648" y="97907"/>
                </a:lnTo>
                <a:lnTo>
                  <a:pt x="295097" y="140384"/>
                </a:lnTo>
                <a:lnTo>
                  <a:pt x="295274" y="147637"/>
                </a:lnTo>
                <a:lnTo>
                  <a:pt x="295097" y="154890"/>
                </a:lnTo>
                <a:lnTo>
                  <a:pt x="286648" y="197366"/>
                </a:lnTo>
                <a:lnTo>
                  <a:pt x="266216" y="235592"/>
                </a:lnTo>
                <a:lnTo>
                  <a:pt x="235592" y="266216"/>
                </a:lnTo>
                <a:lnTo>
                  <a:pt x="197367" y="286648"/>
                </a:lnTo>
                <a:lnTo>
                  <a:pt x="154890" y="295097"/>
                </a:lnTo>
                <a:lnTo>
                  <a:pt x="147637" y="2952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80198" y="7692614"/>
            <a:ext cx="295275" cy="295275"/>
          </a:xfrm>
          <a:custGeom>
            <a:avLst/>
            <a:gdLst/>
            <a:ahLst/>
            <a:cxnLst/>
            <a:rect l="l" t="t" r="r" b="b"/>
            <a:pathLst>
              <a:path w="295275" h="295275">
                <a:moveTo>
                  <a:pt x="147637" y="295274"/>
                </a:moveTo>
                <a:lnTo>
                  <a:pt x="104780" y="288918"/>
                </a:lnTo>
                <a:lnTo>
                  <a:pt x="65614" y="270393"/>
                </a:lnTo>
                <a:lnTo>
                  <a:pt x="33510" y="241298"/>
                </a:lnTo>
                <a:lnTo>
                  <a:pt x="11238" y="204135"/>
                </a:lnTo>
                <a:lnTo>
                  <a:pt x="709" y="162108"/>
                </a:lnTo>
                <a:lnTo>
                  <a:pt x="0" y="147637"/>
                </a:lnTo>
                <a:lnTo>
                  <a:pt x="177" y="140384"/>
                </a:lnTo>
                <a:lnTo>
                  <a:pt x="8626" y="97907"/>
                </a:lnTo>
                <a:lnTo>
                  <a:pt x="29058" y="59681"/>
                </a:lnTo>
                <a:lnTo>
                  <a:pt x="59682" y="29058"/>
                </a:lnTo>
                <a:lnTo>
                  <a:pt x="97907" y="8626"/>
                </a:lnTo>
                <a:lnTo>
                  <a:pt x="140384" y="177"/>
                </a:lnTo>
                <a:lnTo>
                  <a:pt x="147637" y="0"/>
                </a:lnTo>
                <a:lnTo>
                  <a:pt x="154890" y="177"/>
                </a:lnTo>
                <a:lnTo>
                  <a:pt x="197367" y="8626"/>
                </a:lnTo>
                <a:lnTo>
                  <a:pt x="235592" y="29057"/>
                </a:lnTo>
                <a:lnTo>
                  <a:pt x="266216" y="59681"/>
                </a:lnTo>
                <a:lnTo>
                  <a:pt x="286648" y="97907"/>
                </a:lnTo>
                <a:lnTo>
                  <a:pt x="295097" y="140384"/>
                </a:lnTo>
                <a:lnTo>
                  <a:pt x="295274" y="147637"/>
                </a:lnTo>
                <a:lnTo>
                  <a:pt x="295097" y="154890"/>
                </a:lnTo>
                <a:lnTo>
                  <a:pt x="286648" y="197366"/>
                </a:lnTo>
                <a:lnTo>
                  <a:pt x="266216" y="235592"/>
                </a:lnTo>
                <a:lnTo>
                  <a:pt x="235592" y="266216"/>
                </a:lnTo>
                <a:lnTo>
                  <a:pt x="197367" y="286648"/>
                </a:lnTo>
                <a:lnTo>
                  <a:pt x="154890" y="295097"/>
                </a:lnTo>
                <a:lnTo>
                  <a:pt x="147637" y="2952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48373" y="3029180"/>
            <a:ext cx="13768705" cy="70700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86510" marR="4203700">
              <a:lnSpc>
                <a:spcPct val="116500"/>
              </a:lnSpc>
              <a:spcBef>
                <a:spcPts val="100"/>
              </a:spcBef>
            </a:pPr>
            <a:r>
              <a:rPr dirty="0" sz="5900" spc="-180">
                <a:latin typeface="Arial Black"/>
                <a:cs typeface="Arial Black"/>
              </a:rPr>
              <a:t>Number</a:t>
            </a:r>
            <a:r>
              <a:rPr dirty="0" sz="5900" spc="-420">
                <a:latin typeface="Arial Black"/>
                <a:cs typeface="Arial Black"/>
              </a:rPr>
              <a:t> </a:t>
            </a:r>
            <a:r>
              <a:rPr dirty="0" sz="5900" spc="-180">
                <a:latin typeface="Arial Black"/>
                <a:cs typeface="Arial Black"/>
              </a:rPr>
              <a:t>of</a:t>
            </a:r>
            <a:r>
              <a:rPr dirty="0" sz="5900" spc="-415">
                <a:latin typeface="Arial Black"/>
                <a:cs typeface="Arial Black"/>
              </a:rPr>
              <a:t> </a:t>
            </a:r>
            <a:r>
              <a:rPr dirty="0" sz="5900" spc="-409">
                <a:latin typeface="Arial Black"/>
                <a:cs typeface="Arial Black"/>
              </a:rPr>
              <a:t>rows:</a:t>
            </a:r>
            <a:r>
              <a:rPr dirty="0" sz="5900" spc="-415">
                <a:latin typeface="Arial Black"/>
                <a:cs typeface="Arial Black"/>
              </a:rPr>
              <a:t> </a:t>
            </a:r>
            <a:r>
              <a:rPr dirty="0" sz="5900" spc="-620">
                <a:latin typeface="Arial Black"/>
                <a:cs typeface="Arial Black"/>
              </a:rPr>
              <a:t>506 </a:t>
            </a:r>
            <a:r>
              <a:rPr dirty="0" sz="5900">
                <a:latin typeface="Lucida Sans Unicode"/>
                <a:cs typeface="Lucida Sans Unicode"/>
              </a:rPr>
              <a:t>Number</a:t>
            </a:r>
            <a:r>
              <a:rPr dirty="0" sz="5900" spc="-355">
                <a:latin typeface="Lucida Sans Unicode"/>
                <a:cs typeface="Lucida Sans Unicode"/>
              </a:rPr>
              <a:t> </a:t>
            </a:r>
            <a:r>
              <a:rPr dirty="0" sz="5900" spc="-100">
                <a:latin typeface="Lucida Sans Unicode"/>
                <a:cs typeface="Lucida Sans Unicode"/>
              </a:rPr>
              <a:t>of</a:t>
            </a:r>
            <a:r>
              <a:rPr dirty="0" sz="5900" spc="-345">
                <a:latin typeface="Lucida Sans Unicode"/>
                <a:cs typeface="Lucida Sans Unicode"/>
              </a:rPr>
              <a:t> </a:t>
            </a:r>
            <a:r>
              <a:rPr dirty="0" sz="5900" spc="-140">
                <a:latin typeface="Lucida Sans Unicode"/>
                <a:cs typeface="Lucida Sans Unicode"/>
              </a:rPr>
              <a:t>columns:</a:t>
            </a:r>
            <a:r>
              <a:rPr dirty="0" sz="5900" spc="-335">
                <a:latin typeface="Lucida Sans Unicode"/>
                <a:cs typeface="Lucida Sans Unicode"/>
              </a:rPr>
              <a:t> </a:t>
            </a:r>
            <a:r>
              <a:rPr dirty="0" sz="5900" spc="-400">
                <a:latin typeface="Lucida Sans Unicode"/>
                <a:cs typeface="Lucida Sans Unicode"/>
              </a:rPr>
              <a:t>14 </a:t>
            </a:r>
            <a:r>
              <a:rPr dirty="0" sz="5900">
                <a:latin typeface="Lucida Sans Unicode"/>
                <a:cs typeface="Lucida Sans Unicode"/>
              </a:rPr>
              <a:t>No</a:t>
            </a:r>
            <a:r>
              <a:rPr dirty="0" sz="5900" spc="-310">
                <a:latin typeface="Lucida Sans Unicode"/>
                <a:cs typeface="Lucida Sans Unicode"/>
              </a:rPr>
              <a:t> </a:t>
            </a:r>
            <a:r>
              <a:rPr dirty="0" sz="5900" spc="-140">
                <a:latin typeface="Lucida Sans Unicode"/>
                <a:cs typeface="Lucida Sans Unicode"/>
              </a:rPr>
              <a:t>missing</a:t>
            </a:r>
            <a:r>
              <a:rPr dirty="0" sz="5900" spc="-310">
                <a:latin typeface="Lucida Sans Unicode"/>
                <a:cs typeface="Lucida Sans Unicode"/>
              </a:rPr>
              <a:t> </a:t>
            </a:r>
            <a:r>
              <a:rPr dirty="0" sz="5900" spc="-10">
                <a:latin typeface="Lucida Sans Unicode"/>
                <a:cs typeface="Lucida Sans Unicode"/>
              </a:rPr>
              <a:t>values</a:t>
            </a:r>
            <a:endParaRPr sz="5900">
              <a:latin typeface="Lucida Sans Unicode"/>
              <a:cs typeface="Lucida Sans Unicode"/>
            </a:endParaRPr>
          </a:p>
          <a:p>
            <a:pPr marL="1286510">
              <a:lnSpc>
                <a:spcPct val="100000"/>
              </a:lnSpc>
              <a:spcBef>
                <a:spcPts val="1170"/>
              </a:spcBef>
            </a:pPr>
            <a:r>
              <a:rPr dirty="0" sz="5900">
                <a:latin typeface="Lucida Sans Unicode"/>
                <a:cs typeface="Lucida Sans Unicode"/>
              </a:rPr>
              <a:t>No</a:t>
            </a:r>
            <a:r>
              <a:rPr dirty="0" sz="5900" spc="-315">
                <a:latin typeface="Lucida Sans Unicode"/>
                <a:cs typeface="Lucida Sans Unicode"/>
              </a:rPr>
              <a:t> </a:t>
            </a:r>
            <a:r>
              <a:rPr dirty="0" sz="5900" spc="-105">
                <a:latin typeface="Lucida Sans Unicode"/>
                <a:cs typeface="Lucida Sans Unicode"/>
              </a:rPr>
              <a:t>duplicate</a:t>
            </a:r>
            <a:r>
              <a:rPr dirty="0" sz="5900" spc="-310">
                <a:latin typeface="Lucida Sans Unicode"/>
                <a:cs typeface="Lucida Sans Unicode"/>
              </a:rPr>
              <a:t> </a:t>
            </a:r>
            <a:r>
              <a:rPr dirty="0" sz="5900" spc="-20">
                <a:latin typeface="Lucida Sans Unicode"/>
                <a:cs typeface="Lucida Sans Unicode"/>
              </a:rPr>
              <a:t>data</a:t>
            </a:r>
            <a:endParaRPr sz="5900">
              <a:latin typeface="Lucida Sans Unicode"/>
              <a:cs typeface="Lucida Sans Unicode"/>
            </a:endParaRPr>
          </a:p>
          <a:p>
            <a:pPr marL="1286510">
              <a:lnSpc>
                <a:spcPct val="100000"/>
              </a:lnSpc>
              <a:spcBef>
                <a:spcPts val="1170"/>
              </a:spcBef>
            </a:pPr>
            <a:r>
              <a:rPr dirty="0" sz="5900" spc="-245">
                <a:latin typeface="Lucida Sans Unicode"/>
                <a:cs typeface="Lucida Sans Unicode"/>
              </a:rPr>
              <a:t>All</a:t>
            </a:r>
            <a:r>
              <a:rPr dirty="0" sz="5900" spc="-335">
                <a:latin typeface="Lucida Sans Unicode"/>
                <a:cs typeface="Lucida Sans Unicode"/>
              </a:rPr>
              <a:t> </a:t>
            </a:r>
            <a:r>
              <a:rPr dirty="0" sz="5900" spc="-65">
                <a:latin typeface="Lucida Sans Unicode"/>
                <a:cs typeface="Lucida Sans Unicode"/>
              </a:rPr>
              <a:t>features</a:t>
            </a:r>
            <a:r>
              <a:rPr dirty="0" sz="5900" spc="-340">
                <a:latin typeface="Lucida Sans Unicode"/>
                <a:cs typeface="Lucida Sans Unicode"/>
              </a:rPr>
              <a:t> </a:t>
            </a:r>
            <a:r>
              <a:rPr dirty="0" sz="5900">
                <a:latin typeface="Lucida Sans Unicode"/>
                <a:cs typeface="Lucida Sans Unicode"/>
              </a:rPr>
              <a:t>are</a:t>
            </a:r>
            <a:r>
              <a:rPr dirty="0" sz="5900" spc="-340">
                <a:latin typeface="Lucida Sans Unicode"/>
                <a:cs typeface="Lucida Sans Unicode"/>
              </a:rPr>
              <a:t> </a:t>
            </a:r>
            <a:r>
              <a:rPr dirty="0" sz="5900" spc="-10">
                <a:latin typeface="Lucida Sans Unicode"/>
                <a:cs typeface="Lucida Sans Unicode"/>
              </a:rPr>
              <a:t>numerical</a:t>
            </a:r>
            <a:endParaRPr sz="59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dirty="0" sz="5000" spc="-145">
                <a:latin typeface="Lucida Sans Unicode"/>
                <a:cs typeface="Lucida Sans Unicode"/>
              </a:rPr>
              <a:t>The</a:t>
            </a:r>
            <a:r>
              <a:rPr dirty="0" sz="5000" spc="-280">
                <a:latin typeface="Lucida Sans Unicode"/>
                <a:cs typeface="Lucida Sans Unicode"/>
              </a:rPr>
              <a:t> </a:t>
            </a:r>
            <a:r>
              <a:rPr dirty="0" sz="5000" spc="-45">
                <a:latin typeface="Lucida Sans Unicode"/>
                <a:cs typeface="Lucida Sans Unicode"/>
              </a:rPr>
              <a:t>dataset</a:t>
            </a:r>
            <a:r>
              <a:rPr dirty="0" sz="5000" spc="-280">
                <a:latin typeface="Lucida Sans Unicode"/>
                <a:cs typeface="Lucida Sans Unicode"/>
              </a:rPr>
              <a:t> </a:t>
            </a:r>
            <a:r>
              <a:rPr dirty="0" sz="5000" spc="-114">
                <a:latin typeface="Lucida Sans Unicode"/>
                <a:cs typeface="Lucida Sans Unicode"/>
              </a:rPr>
              <a:t>includes</a:t>
            </a:r>
            <a:r>
              <a:rPr dirty="0" sz="5000" spc="-280">
                <a:latin typeface="Lucida Sans Unicode"/>
                <a:cs typeface="Lucida Sans Unicode"/>
              </a:rPr>
              <a:t> </a:t>
            </a:r>
            <a:r>
              <a:rPr dirty="0" sz="5000" spc="-60">
                <a:latin typeface="Lucida Sans Unicode"/>
                <a:cs typeface="Lucida Sans Unicode"/>
              </a:rPr>
              <a:t>features</a:t>
            </a:r>
            <a:r>
              <a:rPr dirty="0" sz="5000" spc="-280">
                <a:latin typeface="Lucida Sans Unicode"/>
                <a:cs typeface="Lucida Sans Unicode"/>
              </a:rPr>
              <a:t> </a:t>
            </a:r>
            <a:r>
              <a:rPr dirty="0" sz="5000" spc="-10">
                <a:latin typeface="Lucida Sans Unicode"/>
                <a:cs typeface="Lucida Sans Unicode"/>
              </a:rPr>
              <a:t>like:</a:t>
            </a:r>
            <a:endParaRPr sz="50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dirty="0" sz="5000" spc="-25">
                <a:latin typeface="Lucida Sans Unicode"/>
                <a:cs typeface="Lucida Sans Unicode"/>
              </a:rPr>
              <a:t>CRIM,</a:t>
            </a:r>
            <a:r>
              <a:rPr dirty="0" sz="5000" spc="-375">
                <a:latin typeface="Lucida Sans Unicode"/>
                <a:cs typeface="Lucida Sans Unicode"/>
              </a:rPr>
              <a:t> </a:t>
            </a:r>
            <a:r>
              <a:rPr dirty="0" sz="5000">
                <a:latin typeface="Lucida Sans Unicode"/>
                <a:cs typeface="Lucida Sans Unicode"/>
              </a:rPr>
              <a:t>RM,</a:t>
            </a:r>
            <a:r>
              <a:rPr dirty="0" sz="5000" spc="-365">
                <a:latin typeface="Lucida Sans Unicode"/>
                <a:cs typeface="Lucida Sans Unicode"/>
              </a:rPr>
              <a:t> </a:t>
            </a:r>
            <a:r>
              <a:rPr dirty="0" sz="5000" spc="-400">
                <a:latin typeface="Lucida Sans Unicode"/>
                <a:cs typeface="Lucida Sans Unicode"/>
              </a:rPr>
              <a:t>LSTAT,</a:t>
            </a:r>
            <a:r>
              <a:rPr dirty="0" sz="5000" spc="-285">
                <a:latin typeface="Lucida Sans Unicode"/>
                <a:cs typeface="Lucida Sans Unicode"/>
              </a:rPr>
              <a:t> </a:t>
            </a:r>
            <a:r>
              <a:rPr dirty="0" sz="5000" spc="-385">
                <a:latin typeface="Lucida Sans Unicode"/>
                <a:cs typeface="Lucida Sans Unicode"/>
              </a:rPr>
              <a:t>TAX,</a:t>
            </a:r>
            <a:r>
              <a:rPr dirty="0" sz="5000" spc="-285">
                <a:latin typeface="Lucida Sans Unicode"/>
                <a:cs typeface="Lucida Sans Unicode"/>
              </a:rPr>
              <a:t> </a:t>
            </a:r>
            <a:r>
              <a:rPr dirty="0" sz="5000">
                <a:latin typeface="Lucida Sans Unicode"/>
                <a:cs typeface="Lucida Sans Unicode"/>
              </a:rPr>
              <a:t>and</a:t>
            </a:r>
            <a:r>
              <a:rPr dirty="0" sz="5000" spc="-330">
                <a:latin typeface="Lucida Sans Unicode"/>
                <a:cs typeface="Lucida Sans Unicode"/>
              </a:rPr>
              <a:t> </a:t>
            </a:r>
            <a:r>
              <a:rPr dirty="0" sz="5000" spc="-40">
                <a:latin typeface="Lucida Sans Unicode"/>
                <a:cs typeface="Lucida Sans Unicode"/>
              </a:rPr>
              <a:t>MEDV</a:t>
            </a:r>
            <a:r>
              <a:rPr dirty="0" sz="5000" spc="-325">
                <a:latin typeface="Lucida Sans Unicode"/>
                <a:cs typeface="Lucida Sans Unicode"/>
              </a:rPr>
              <a:t> </a:t>
            </a:r>
            <a:r>
              <a:rPr dirty="0" sz="5000" spc="-70">
                <a:latin typeface="Lucida Sans Unicode"/>
                <a:cs typeface="Lucida Sans Unicode"/>
              </a:rPr>
              <a:t>(house</a:t>
            </a:r>
            <a:r>
              <a:rPr dirty="0" sz="5000" spc="-330">
                <a:latin typeface="Lucida Sans Unicode"/>
                <a:cs typeface="Lucida Sans Unicode"/>
              </a:rPr>
              <a:t> </a:t>
            </a:r>
            <a:r>
              <a:rPr dirty="0" sz="5000" spc="-10">
                <a:latin typeface="Lucida Sans Unicode"/>
                <a:cs typeface="Lucida Sans Unicode"/>
              </a:rPr>
              <a:t>price)</a:t>
            </a:r>
            <a:endParaRPr sz="50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665854">
              <a:lnSpc>
                <a:spcPct val="100000"/>
              </a:lnSpc>
              <a:spcBef>
                <a:spcPts val="100"/>
              </a:spcBef>
            </a:pPr>
            <a:r>
              <a:rPr dirty="0" sz="9300" spc="-434"/>
              <a:t>Data</a:t>
            </a:r>
            <a:r>
              <a:rPr dirty="0" sz="9300" spc="-680"/>
              <a:t> </a:t>
            </a:r>
            <a:r>
              <a:rPr dirty="0" sz="9300" spc="-500"/>
              <a:t>Cleaning</a:t>
            </a:r>
            <a:endParaRPr sz="9300"/>
          </a:p>
        </p:txBody>
      </p:sp>
      <p:sp>
        <p:nvSpPr>
          <p:cNvPr id="3" name="object 3"/>
          <p:cNvSpPr/>
          <p:nvPr/>
        </p:nvSpPr>
        <p:spPr>
          <a:xfrm>
            <a:off x="4747302" y="2440304"/>
            <a:ext cx="9065895" cy="0"/>
          </a:xfrm>
          <a:custGeom>
            <a:avLst/>
            <a:gdLst/>
            <a:ahLst/>
            <a:cxnLst/>
            <a:rect l="l" t="t" r="r" b="b"/>
            <a:pathLst>
              <a:path w="9065894" h="0">
                <a:moveTo>
                  <a:pt x="0" y="0"/>
                </a:moveTo>
                <a:lnTo>
                  <a:pt x="9065849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-12700" y="3708689"/>
            <a:ext cx="17029430" cy="5527040"/>
          </a:xfrm>
          <a:prstGeom prst="rect">
            <a:avLst/>
          </a:prstGeom>
        </p:spPr>
        <p:txBody>
          <a:bodyPr wrap="square" lIns="0" tIns="167640" rIns="0" bIns="0" rtlCol="0" vert="horz">
            <a:spAutoFit/>
          </a:bodyPr>
          <a:lstStyle/>
          <a:p>
            <a:pPr marL="471170" indent="-467995">
              <a:lnSpc>
                <a:spcPct val="100000"/>
              </a:lnSpc>
              <a:spcBef>
                <a:spcPts val="1320"/>
              </a:spcBef>
              <a:buChar char="-"/>
              <a:tabLst>
                <a:tab pos="471170" algn="l"/>
              </a:tabLst>
            </a:pPr>
            <a:r>
              <a:rPr dirty="0" sz="6200" spc="-150">
                <a:latin typeface="Lucida Sans Unicode"/>
                <a:cs typeface="Lucida Sans Unicode"/>
              </a:rPr>
              <a:t>Checked</a:t>
            </a:r>
            <a:r>
              <a:rPr dirty="0" sz="6200" spc="-350">
                <a:latin typeface="Lucida Sans Unicode"/>
                <a:cs typeface="Lucida Sans Unicode"/>
              </a:rPr>
              <a:t> </a:t>
            </a:r>
            <a:r>
              <a:rPr dirty="0" sz="6200" spc="-40">
                <a:latin typeface="Lucida Sans Unicode"/>
                <a:cs typeface="Lucida Sans Unicode"/>
              </a:rPr>
              <a:t>for</a:t>
            </a:r>
            <a:r>
              <a:rPr dirty="0" sz="6200" spc="-355">
                <a:latin typeface="Lucida Sans Unicode"/>
                <a:cs typeface="Lucida Sans Unicode"/>
              </a:rPr>
              <a:t> </a:t>
            </a:r>
            <a:r>
              <a:rPr dirty="0" sz="6200" spc="-135">
                <a:latin typeface="Lucida Sans Unicode"/>
                <a:cs typeface="Lucida Sans Unicode"/>
              </a:rPr>
              <a:t>missing</a:t>
            </a:r>
            <a:r>
              <a:rPr dirty="0" sz="6200" spc="-350">
                <a:latin typeface="Lucida Sans Unicode"/>
                <a:cs typeface="Lucida Sans Unicode"/>
              </a:rPr>
              <a:t> </a:t>
            </a:r>
            <a:r>
              <a:rPr dirty="0" sz="6200" spc="-65">
                <a:latin typeface="Lucida Sans Unicode"/>
                <a:cs typeface="Lucida Sans Unicode"/>
              </a:rPr>
              <a:t>values</a:t>
            </a:r>
            <a:r>
              <a:rPr dirty="0" sz="6200" spc="-350">
                <a:latin typeface="Lucida Sans Unicode"/>
                <a:cs typeface="Lucida Sans Unicode"/>
              </a:rPr>
              <a:t> </a:t>
            </a:r>
            <a:r>
              <a:rPr dirty="0" sz="2900" spc="3840">
                <a:latin typeface="Lucida Sans Unicode"/>
                <a:cs typeface="Lucida Sans Unicode"/>
              </a:rPr>
              <a:t>→</a:t>
            </a:r>
            <a:r>
              <a:rPr dirty="0" sz="2900" spc="330">
                <a:latin typeface="Lucida Sans Unicode"/>
                <a:cs typeface="Lucida Sans Unicode"/>
              </a:rPr>
              <a:t> </a:t>
            </a:r>
            <a:r>
              <a:rPr dirty="0" sz="6200">
                <a:latin typeface="Lucida Sans Unicode"/>
                <a:cs typeface="Lucida Sans Unicode"/>
              </a:rPr>
              <a:t>None</a:t>
            </a:r>
            <a:r>
              <a:rPr dirty="0" sz="6200" spc="-350">
                <a:latin typeface="Lucida Sans Unicode"/>
                <a:cs typeface="Lucida Sans Unicode"/>
              </a:rPr>
              <a:t> </a:t>
            </a:r>
            <a:r>
              <a:rPr dirty="0" sz="6200" spc="-20">
                <a:latin typeface="Lucida Sans Unicode"/>
                <a:cs typeface="Lucida Sans Unicode"/>
              </a:rPr>
              <a:t>found</a:t>
            </a:r>
            <a:endParaRPr sz="6200">
              <a:latin typeface="Lucida Sans Unicode"/>
              <a:cs typeface="Lucida Sans Unicode"/>
            </a:endParaRPr>
          </a:p>
          <a:p>
            <a:pPr marL="471170" indent="-467995">
              <a:lnSpc>
                <a:spcPct val="100000"/>
              </a:lnSpc>
              <a:spcBef>
                <a:spcPts val="1225"/>
              </a:spcBef>
              <a:buChar char="-"/>
              <a:tabLst>
                <a:tab pos="471170" algn="l"/>
              </a:tabLst>
            </a:pPr>
            <a:r>
              <a:rPr dirty="0" sz="6200" spc="-150">
                <a:latin typeface="Lucida Sans Unicode"/>
                <a:cs typeface="Lucida Sans Unicode"/>
              </a:rPr>
              <a:t>Checked</a:t>
            </a:r>
            <a:r>
              <a:rPr dirty="0" sz="6200" spc="-345">
                <a:latin typeface="Lucida Sans Unicode"/>
                <a:cs typeface="Lucida Sans Unicode"/>
              </a:rPr>
              <a:t> </a:t>
            </a:r>
            <a:r>
              <a:rPr dirty="0" sz="6200" spc="-40">
                <a:latin typeface="Lucida Sans Unicode"/>
                <a:cs typeface="Lucida Sans Unicode"/>
              </a:rPr>
              <a:t>for</a:t>
            </a:r>
            <a:r>
              <a:rPr dirty="0" sz="6200" spc="-340">
                <a:latin typeface="Lucida Sans Unicode"/>
                <a:cs typeface="Lucida Sans Unicode"/>
              </a:rPr>
              <a:t> </a:t>
            </a:r>
            <a:r>
              <a:rPr dirty="0" sz="6200" spc="-114">
                <a:latin typeface="Lucida Sans Unicode"/>
                <a:cs typeface="Lucida Sans Unicode"/>
              </a:rPr>
              <a:t>duplicates</a:t>
            </a:r>
            <a:r>
              <a:rPr dirty="0" sz="6200" spc="-340">
                <a:latin typeface="Lucida Sans Unicode"/>
                <a:cs typeface="Lucida Sans Unicode"/>
              </a:rPr>
              <a:t> </a:t>
            </a:r>
            <a:r>
              <a:rPr dirty="0" sz="2900" spc="3840">
                <a:latin typeface="Lucida Sans Unicode"/>
                <a:cs typeface="Lucida Sans Unicode"/>
              </a:rPr>
              <a:t>→</a:t>
            </a:r>
            <a:r>
              <a:rPr dirty="0" sz="2900" spc="345">
                <a:latin typeface="Lucida Sans Unicode"/>
                <a:cs typeface="Lucida Sans Unicode"/>
              </a:rPr>
              <a:t> </a:t>
            </a:r>
            <a:r>
              <a:rPr dirty="0" sz="6200">
                <a:latin typeface="Lucida Sans Unicode"/>
                <a:cs typeface="Lucida Sans Unicode"/>
              </a:rPr>
              <a:t>None</a:t>
            </a:r>
            <a:r>
              <a:rPr dirty="0" sz="6200" spc="-340">
                <a:latin typeface="Lucida Sans Unicode"/>
                <a:cs typeface="Lucida Sans Unicode"/>
              </a:rPr>
              <a:t> </a:t>
            </a:r>
            <a:r>
              <a:rPr dirty="0" sz="6200" spc="-10">
                <a:latin typeface="Lucida Sans Unicode"/>
                <a:cs typeface="Lucida Sans Unicode"/>
              </a:rPr>
              <a:t>found</a:t>
            </a:r>
            <a:endParaRPr sz="6200">
              <a:latin typeface="Lucida Sans Unicode"/>
              <a:cs typeface="Lucida Sans Unicode"/>
            </a:endParaRPr>
          </a:p>
          <a:p>
            <a:pPr marL="471170" indent="-467995">
              <a:lnSpc>
                <a:spcPct val="100000"/>
              </a:lnSpc>
              <a:spcBef>
                <a:spcPts val="1220"/>
              </a:spcBef>
              <a:buChar char="-"/>
              <a:tabLst>
                <a:tab pos="471170" algn="l"/>
              </a:tabLst>
            </a:pPr>
            <a:r>
              <a:rPr dirty="0" sz="6200" spc="-10">
                <a:latin typeface="Lucida Sans Unicode"/>
                <a:cs typeface="Lucida Sans Unicode"/>
              </a:rPr>
              <a:t>Data</a:t>
            </a:r>
            <a:r>
              <a:rPr dirty="0" sz="6200" spc="-425">
                <a:latin typeface="Lucida Sans Unicode"/>
                <a:cs typeface="Lucida Sans Unicode"/>
              </a:rPr>
              <a:t> </a:t>
            </a:r>
            <a:r>
              <a:rPr dirty="0" sz="6200" spc="-85">
                <a:latin typeface="Lucida Sans Unicode"/>
                <a:cs typeface="Lucida Sans Unicode"/>
              </a:rPr>
              <a:t>types</a:t>
            </a:r>
            <a:r>
              <a:rPr dirty="0" sz="6200" spc="-405">
                <a:latin typeface="Lucida Sans Unicode"/>
                <a:cs typeface="Lucida Sans Unicode"/>
              </a:rPr>
              <a:t> </a:t>
            </a:r>
            <a:r>
              <a:rPr dirty="0" sz="6200">
                <a:latin typeface="Lucida Sans Unicode"/>
                <a:cs typeface="Lucida Sans Unicode"/>
              </a:rPr>
              <a:t>are</a:t>
            </a:r>
            <a:r>
              <a:rPr dirty="0" sz="6200" spc="-415">
                <a:latin typeface="Lucida Sans Unicode"/>
                <a:cs typeface="Lucida Sans Unicode"/>
              </a:rPr>
              <a:t> </a:t>
            </a:r>
            <a:r>
              <a:rPr dirty="0" sz="6200" spc="-10">
                <a:latin typeface="Lucida Sans Unicode"/>
                <a:cs typeface="Lucida Sans Unicode"/>
              </a:rPr>
              <a:t>correct</a:t>
            </a:r>
            <a:endParaRPr sz="62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62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dirty="0" sz="6200" spc="-100">
                <a:latin typeface="Lucida Sans Unicode"/>
                <a:cs typeface="Lucida Sans Unicode"/>
              </a:rPr>
              <a:t>So,</a:t>
            </a:r>
            <a:r>
              <a:rPr dirty="0" sz="6200" spc="-395">
                <a:latin typeface="Lucida Sans Unicode"/>
                <a:cs typeface="Lucida Sans Unicode"/>
              </a:rPr>
              <a:t> </a:t>
            </a:r>
            <a:r>
              <a:rPr dirty="0" sz="6200">
                <a:latin typeface="Lucida Sans Unicode"/>
                <a:cs typeface="Lucida Sans Unicode"/>
              </a:rPr>
              <a:t>the</a:t>
            </a:r>
            <a:r>
              <a:rPr dirty="0" sz="6200" spc="-490">
                <a:latin typeface="Lucida Sans Unicode"/>
                <a:cs typeface="Lucida Sans Unicode"/>
              </a:rPr>
              <a:t> </a:t>
            </a:r>
            <a:r>
              <a:rPr dirty="0" sz="6200" spc="-45">
                <a:latin typeface="Lucida Sans Unicode"/>
                <a:cs typeface="Lucida Sans Unicode"/>
              </a:rPr>
              <a:t>dataset</a:t>
            </a:r>
            <a:r>
              <a:rPr dirty="0" sz="6200" spc="-445">
                <a:latin typeface="Lucida Sans Unicode"/>
                <a:cs typeface="Lucida Sans Unicode"/>
              </a:rPr>
              <a:t> </a:t>
            </a:r>
            <a:r>
              <a:rPr dirty="0" sz="6200" spc="-200">
                <a:latin typeface="Lucida Sans Unicode"/>
                <a:cs typeface="Lucida Sans Unicode"/>
              </a:rPr>
              <a:t>is</a:t>
            </a:r>
            <a:r>
              <a:rPr dirty="0" sz="6200" spc="-350">
                <a:latin typeface="Lucida Sans Unicode"/>
                <a:cs typeface="Lucida Sans Unicode"/>
              </a:rPr>
              <a:t> </a:t>
            </a:r>
            <a:r>
              <a:rPr dirty="0" sz="6200" spc="-65">
                <a:latin typeface="Lucida Sans Unicode"/>
                <a:cs typeface="Lucida Sans Unicode"/>
              </a:rPr>
              <a:t>clean</a:t>
            </a:r>
            <a:r>
              <a:rPr dirty="0" sz="6200" spc="-415">
                <a:latin typeface="Lucida Sans Unicode"/>
                <a:cs typeface="Lucida Sans Unicode"/>
              </a:rPr>
              <a:t> </a:t>
            </a:r>
            <a:r>
              <a:rPr dirty="0" sz="6200">
                <a:latin typeface="Lucida Sans Unicode"/>
                <a:cs typeface="Lucida Sans Unicode"/>
              </a:rPr>
              <a:t>and</a:t>
            </a:r>
            <a:r>
              <a:rPr dirty="0" sz="6200" spc="-420">
                <a:latin typeface="Lucida Sans Unicode"/>
                <a:cs typeface="Lucida Sans Unicode"/>
              </a:rPr>
              <a:t> </a:t>
            </a:r>
            <a:r>
              <a:rPr dirty="0" sz="6200" spc="-30">
                <a:latin typeface="Lucida Sans Unicode"/>
                <a:cs typeface="Lucida Sans Unicode"/>
              </a:rPr>
              <a:t>ready</a:t>
            </a:r>
            <a:r>
              <a:rPr dirty="0" sz="6200" spc="-420">
                <a:latin typeface="Lucida Sans Unicode"/>
                <a:cs typeface="Lucida Sans Unicode"/>
              </a:rPr>
              <a:t> </a:t>
            </a:r>
            <a:r>
              <a:rPr dirty="0" sz="6200" spc="-40">
                <a:latin typeface="Lucida Sans Unicode"/>
                <a:cs typeface="Lucida Sans Unicode"/>
              </a:rPr>
              <a:t>for</a:t>
            </a:r>
            <a:r>
              <a:rPr dirty="0" sz="6200" spc="-420">
                <a:latin typeface="Lucida Sans Unicode"/>
                <a:cs typeface="Lucida Sans Unicode"/>
              </a:rPr>
              <a:t> </a:t>
            </a:r>
            <a:r>
              <a:rPr dirty="0" sz="6200" spc="-45">
                <a:latin typeface="Lucida Sans Unicode"/>
                <a:cs typeface="Lucida Sans Unicode"/>
              </a:rPr>
              <a:t>analysis.</a:t>
            </a:r>
            <a:endParaRPr sz="62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073275">
              <a:lnSpc>
                <a:spcPct val="100000"/>
              </a:lnSpc>
              <a:spcBef>
                <a:spcPts val="100"/>
              </a:spcBef>
            </a:pPr>
            <a:r>
              <a:rPr dirty="0" sz="9300" spc="-555"/>
              <a:t>Average</a:t>
            </a:r>
            <a:r>
              <a:rPr dirty="0" sz="9300" spc="-670"/>
              <a:t> </a:t>
            </a:r>
            <a:r>
              <a:rPr dirty="0" sz="9300" spc="-630"/>
              <a:t>House</a:t>
            </a:r>
            <a:r>
              <a:rPr dirty="0" sz="9300" spc="-670"/>
              <a:t> </a:t>
            </a:r>
            <a:r>
              <a:rPr dirty="0" sz="9300" spc="-660"/>
              <a:t>Price</a:t>
            </a:r>
            <a:endParaRPr sz="9300"/>
          </a:p>
        </p:txBody>
      </p:sp>
      <p:sp>
        <p:nvSpPr>
          <p:cNvPr id="3" name="object 3"/>
          <p:cNvSpPr/>
          <p:nvPr/>
        </p:nvSpPr>
        <p:spPr>
          <a:xfrm>
            <a:off x="3643862" y="2440304"/>
            <a:ext cx="12109450" cy="0"/>
          </a:xfrm>
          <a:custGeom>
            <a:avLst/>
            <a:gdLst/>
            <a:ahLst/>
            <a:cxnLst/>
            <a:rect l="l" t="t" r="r" b="b"/>
            <a:pathLst>
              <a:path w="12109450" h="0">
                <a:moveTo>
                  <a:pt x="0" y="0"/>
                </a:moveTo>
                <a:lnTo>
                  <a:pt x="12109399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58711" y="3585133"/>
            <a:ext cx="9829287" cy="670186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8149" y="4833655"/>
            <a:ext cx="219075" cy="2190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52424" y="6348130"/>
            <a:ext cx="180975" cy="1809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52424" y="7624480"/>
            <a:ext cx="180975" cy="18097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69242" y="4484722"/>
            <a:ext cx="7172959" cy="4787900"/>
          </a:xfrm>
          <a:prstGeom prst="rect">
            <a:avLst/>
          </a:prstGeom>
        </p:spPr>
        <p:txBody>
          <a:bodyPr wrap="square" lIns="0" tIns="120014" rIns="0" bIns="0" rtlCol="0" vert="horz">
            <a:spAutoFit/>
          </a:bodyPr>
          <a:lstStyle/>
          <a:p>
            <a:pPr marL="177800">
              <a:lnSpc>
                <a:spcPct val="100000"/>
              </a:lnSpc>
              <a:spcBef>
                <a:spcPts val="944"/>
              </a:spcBef>
            </a:pPr>
            <a:r>
              <a:rPr dirty="0" sz="4350" spc="-235">
                <a:latin typeface="Arial Black"/>
                <a:cs typeface="Arial Black"/>
              </a:rPr>
              <a:t>Average</a:t>
            </a:r>
            <a:r>
              <a:rPr dirty="0" sz="4350" spc="-305">
                <a:latin typeface="Arial Black"/>
                <a:cs typeface="Arial Black"/>
              </a:rPr>
              <a:t> </a:t>
            </a:r>
            <a:r>
              <a:rPr dirty="0" sz="4350" spc="-270">
                <a:latin typeface="Arial Black"/>
                <a:cs typeface="Arial Black"/>
              </a:rPr>
              <a:t>House</a:t>
            </a:r>
            <a:r>
              <a:rPr dirty="0" sz="4350" spc="-305">
                <a:latin typeface="Arial Black"/>
                <a:cs typeface="Arial Black"/>
              </a:rPr>
              <a:t> </a:t>
            </a:r>
            <a:r>
              <a:rPr dirty="0" sz="4350" spc="-295">
                <a:latin typeface="Arial Black"/>
                <a:cs typeface="Arial Black"/>
              </a:rPr>
              <a:t>Price</a:t>
            </a:r>
            <a:r>
              <a:rPr dirty="0" sz="4350" spc="-300">
                <a:latin typeface="Arial Black"/>
                <a:cs typeface="Arial Black"/>
              </a:rPr>
              <a:t> </a:t>
            </a:r>
            <a:r>
              <a:rPr dirty="0" sz="2000" spc="2960" b="1">
                <a:latin typeface="Arial"/>
                <a:cs typeface="Arial"/>
              </a:rPr>
              <a:t>≈</a:t>
            </a:r>
            <a:endParaRPr sz="2000">
              <a:latin typeface="Arial"/>
              <a:cs typeface="Arial"/>
            </a:endParaRPr>
          </a:p>
          <a:p>
            <a:pPr marL="177800">
              <a:lnSpc>
                <a:spcPct val="100000"/>
              </a:lnSpc>
              <a:spcBef>
                <a:spcPts val="855"/>
              </a:spcBef>
            </a:pPr>
            <a:r>
              <a:rPr dirty="0" sz="4350" spc="-380">
                <a:latin typeface="Arial Black"/>
                <a:cs typeface="Arial Black"/>
              </a:rPr>
              <a:t>22.53</a:t>
            </a:r>
            <a:endParaRPr sz="4350">
              <a:latin typeface="Arial Black"/>
              <a:cs typeface="Arial Black"/>
            </a:endParaRPr>
          </a:p>
          <a:p>
            <a:pPr marL="12700" marR="5080">
              <a:lnSpc>
                <a:spcPct val="116300"/>
              </a:lnSpc>
              <a:spcBef>
                <a:spcPts val="225"/>
              </a:spcBef>
            </a:pPr>
            <a:r>
              <a:rPr dirty="0" sz="3600">
                <a:latin typeface="Lucida Sans Unicode"/>
                <a:cs typeface="Lucida Sans Unicode"/>
              </a:rPr>
              <a:t>Most</a:t>
            </a:r>
            <a:r>
              <a:rPr dirty="0" sz="3600" spc="-210">
                <a:latin typeface="Lucida Sans Unicode"/>
                <a:cs typeface="Lucida Sans Unicode"/>
              </a:rPr>
              <a:t> </a:t>
            </a:r>
            <a:r>
              <a:rPr dirty="0" sz="3600" spc="-30">
                <a:latin typeface="Lucida Sans Unicode"/>
                <a:cs typeface="Lucida Sans Unicode"/>
              </a:rPr>
              <a:t>houses</a:t>
            </a:r>
            <a:r>
              <a:rPr dirty="0" sz="3600" spc="-204">
                <a:latin typeface="Lucida Sans Unicode"/>
                <a:cs typeface="Lucida Sans Unicode"/>
              </a:rPr>
              <a:t> </a:t>
            </a:r>
            <a:r>
              <a:rPr dirty="0" sz="3600">
                <a:latin typeface="Lucida Sans Unicode"/>
                <a:cs typeface="Lucida Sans Unicode"/>
              </a:rPr>
              <a:t>are</a:t>
            </a:r>
            <a:r>
              <a:rPr dirty="0" sz="3600" spc="-200">
                <a:latin typeface="Lucida Sans Unicode"/>
                <a:cs typeface="Lucida Sans Unicode"/>
              </a:rPr>
              <a:t> </a:t>
            </a:r>
            <a:r>
              <a:rPr dirty="0" sz="3600">
                <a:latin typeface="Lucida Sans Unicode"/>
                <a:cs typeface="Lucida Sans Unicode"/>
              </a:rPr>
              <a:t>between</a:t>
            </a:r>
            <a:r>
              <a:rPr dirty="0" sz="3600" spc="-204">
                <a:latin typeface="Lucida Sans Unicode"/>
                <a:cs typeface="Lucida Sans Unicode"/>
              </a:rPr>
              <a:t> </a:t>
            </a:r>
            <a:r>
              <a:rPr dirty="0" sz="3600" spc="-215">
                <a:latin typeface="Lucida Sans Unicode"/>
                <a:cs typeface="Lucida Sans Unicode"/>
              </a:rPr>
              <a:t>20</a:t>
            </a:r>
            <a:r>
              <a:rPr dirty="0" sz="3600" spc="-200">
                <a:latin typeface="Lucida Sans Unicode"/>
                <a:cs typeface="Lucida Sans Unicode"/>
              </a:rPr>
              <a:t> </a:t>
            </a:r>
            <a:r>
              <a:rPr dirty="0" sz="3600" spc="-25">
                <a:latin typeface="Lucida Sans Unicode"/>
                <a:cs typeface="Lucida Sans Unicode"/>
              </a:rPr>
              <a:t>and 25</a:t>
            </a:r>
            <a:endParaRPr sz="3600">
              <a:latin typeface="Lucida Sans Unicode"/>
              <a:cs typeface="Lucida Sans Unicode"/>
            </a:endParaRPr>
          </a:p>
          <a:p>
            <a:pPr marL="12700" marR="746760">
              <a:lnSpc>
                <a:spcPct val="116300"/>
              </a:lnSpc>
              <a:spcBef>
                <a:spcPts val="5"/>
              </a:spcBef>
            </a:pPr>
            <a:r>
              <a:rPr dirty="0" sz="3600" spc="-55">
                <a:latin typeface="Lucida Sans Unicode"/>
                <a:cs typeface="Lucida Sans Unicode"/>
              </a:rPr>
              <a:t>There</a:t>
            </a:r>
            <a:r>
              <a:rPr dirty="0" sz="3600" spc="-200">
                <a:latin typeface="Lucida Sans Unicode"/>
                <a:cs typeface="Lucida Sans Unicode"/>
              </a:rPr>
              <a:t> </a:t>
            </a:r>
            <a:r>
              <a:rPr dirty="0" sz="3600">
                <a:latin typeface="Lucida Sans Unicode"/>
                <a:cs typeface="Lucida Sans Unicode"/>
              </a:rPr>
              <a:t>are</a:t>
            </a:r>
            <a:r>
              <a:rPr dirty="0" sz="3600" spc="-200">
                <a:latin typeface="Lucida Sans Unicode"/>
                <a:cs typeface="Lucida Sans Unicode"/>
              </a:rPr>
              <a:t> </a:t>
            </a:r>
            <a:r>
              <a:rPr dirty="0" sz="3600" spc="-10">
                <a:latin typeface="Lucida Sans Unicode"/>
                <a:cs typeface="Lucida Sans Unicode"/>
              </a:rPr>
              <a:t>some</a:t>
            </a:r>
            <a:r>
              <a:rPr dirty="0" sz="3600" spc="-195">
                <a:latin typeface="Lucida Sans Unicode"/>
                <a:cs typeface="Lucida Sans Unicode"/>
              </a:rPr>
              <a:t> </a:t>
            </a:r>
            <a:r>
              <a:rPr dirty="0" sz="3600" spc="-160">
                <a:latin typeface="Lucida Sans Unicode"/>
                <a:cs typeface="Lucida Sans Unicode"/>
              </a:rPr>
              <a:t>higher-</a:t>
            </a:r>
            <a:r>
              <a:rPr dirty="0" sz="3600" spc="-10">
                <a:latin typeface="Lucida Sans Unicode"/>
                <a:cs typeface="Lucida Sans Unicode"/>
              </a:rPr>
              <a:t>priced </a:t>
            </a:r>
            <a:r>
              <a:rPr dirty="0" sz="3600" spc="-55">
                <a:latin typeface="Lucida Sans Unicode"/>
                <a:cs typeface="Lucida Sans Unicode"/>
              </a:rPr>
              <a:t>houses,</a:t>
            </a:r>
            <a:r>
              <a:rPr dirty="0" sz="3600" spc="-229">
                <a:latin typeface="Lucida Sans Unicode"/>
                <a:cs typeface="Lucida Sans Unicode"/>
              </a:rPr>
              <a:t> </a:t>
            </a:r>
            <a:r>
              <a:rPr dirty="0" sz="3600" spc="-30">
                <a:latin typeface="Lucida Sans Unicode"/>
                <a:cs typeface="Lucida Sans Unicode"/>
              </a:rPr>
              <a:t>which</a:t>
            </a:r>
            <a:r>
              <a:rPr dirty="0" sz="3600" spc="-240">
                <a:latin typeface="Lucida Sans Unicode"/>
                <a:cs typeface="Lucida Sans Unicode"/>
              </a:rPr>
              <a:t> </a:t>
            </a:r>
            <a:r>
              <a:rPr dirty="0" sz="3600" spc="-35">
                <a:latin typeface="Lucida Sans Unicode"/>
                <a:cs typeface="Lucida Sans Unicode"/>
              </a:rPr>
              <a:t>increase</a:t>
            </a:r>
            <a:r>
              <a:rPr dirty="0" sz="3600" spc="-229">
                <a:latin typeface="Lucida Sans Unicode"/>
                <a:cs typeface="Lucida Sans Unicode"/>
              </a:rPr>
              <a:t> </a:t>
            </a:r>
            <a:r>
              <a:rPr dirty="0" sz="3600" spc="-25">
                <a:latin typeface="Lucida Sans Unicode"/>
                <a:cs typeface="Lucida Sans Unicode"/>
              </a:rPr>
              <a:t>the </a:t>
            </a:r>
            <a:r>
              <a:rPr dirty="0" sz="3600" spc="-10">
                <a:latin typeface="Lucida Sans Unicode"/>
                <a:cs typeface="Lucida Sans Unicode"/>
              </a:rPr>
              <a:t>average.</a:t>
            </a:r>
            <a:endParaRPr sz="36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5600065">
              <a:lnSpc>
                <a:spcPct val="100000"/>
              </a:lnSpc>
              <a:spcBef>
                <a:spcPts val="100"/>
              </a:spcBef>
            </a:pPr>
            <a:r>
              <a:rPr dirty="0" spc="-690"/>
              <a:t>Rooms</a:t>
            </a:r>
          </a:p>
        </p:txBody>
      </p:sp>
      <p:sp>
        <p:nvSpPr>
          <p:cNvPr id="3" name="object 3"/>
          <p:cNvSpPr/>
          <p:nvPr/>
        </p:nvSpPr>
        <p:spPr>
          <a:xfrm>
            <a:off x="5897879" y="2404744"/>
            <a:ext cx="6492240" cy="0"/>
          </a:xfrm>
          <a:custGeom>
            <a:avLst/>
            <a:gdLst/>
            <a:ahLst/>
            <a:cxnLst/>
            <a:rect l="l" t="t" r="r" b="b"/>
            <a:pathLst>
              <a:path w="6492240" h="0">
                <a:moveTo>
                  <a:pt x="0" y="0"/>
                </a:moveTo>
                <a:lnTo>
                  <a:pt x="6492239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68080" y="3140046"/>
            <a:ext cx="9796126" cy="66293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3500415"/>
            <a:ext cx="155048" cy="1714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4100490"/>
            <a:ext cx="155048" cy="1714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4700565"/>
            <a:ext cx="155048" cy="1714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5291115"/>
            <a:ext cx="145523" cy="17144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65292" y="3313407"/>
            <a:ext cx="7173595" cy="23228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7940">
              <a:lnSpc>
                <a:spcPct val="100000"/>
              </a:lnSpc>
              <a:spcBef>
                <a:spcPts val="95"/>
              </a:spcBef>
              <a:tabLst>
                <a:tab pos="6280150" algn="l"/>
              </a:tabLst>
            </a:pPr>
            <a:r>
              <a:rPr dirty="0" sz="3400" spc="-190">
                <a:latin typeface="Lucida Sans Unicode"/>
                <a:cs typeface="Lucida Sans Unicode"/>
              </a:rPr>
              <a:t>A</a:t>
            </a:r>
            <a:r>
              <a:rPr dirty="0" sz="3400" spc="-190">
                <a:latin typeface="Arial Black"/>
                <a:cs typeface="Arial Black"/>
              </a:rPr>
              <a:t>verage</a:t>
            </a:r>
            <a:r>
              <a:rPr dirty="0" sz="3400" spc="-240">
                <a:latin typeface="Arial Black"/>
                <a:cs typeface="Arial Black"/>
              </a:rPr>
              <a:t> </a:t>
            </a:r>
            <a:r>
              <a:rPr dirty="0" sz="3400" spc="-95">
                <a:latin typeface="Arial Black"/>
                <a:cs typeface="Arial Black"/>
              </a:rPr>
              <a:t>number</a:t>
            </a:r>
            <a:r>
              <a:rPr dirty="0" sz="3400" spc="-235">
                <a:latin typeface="Arial Black"/>
                <a:cs typeface="Arial Black"/>
              </a:rPr>
              <a:t> </a:t>
            </a:r>
            <a:r>
              <a:rPr dirty="0" sz="3400" spc="-105">
                <a:latin typeface="Arial Black"/>
                <a:cs typeface="Arial Black"/>
              </a:rPr>
              <a:t>of</a:t>
            </a:r>
            <a:r>
              <a:rPr dirty="0" sz="3400" spc="-240">
                <a:latin typeface="Arial Black"/>
                <a:cs typeface="Arial Black"/>
              </a:rPr>
              <a:t> </a:t>
            </a:r>
            <a:r>
              <a:rPr dirty="0" sz="3400" spc="-180">
                <a:latin typeface="Arial Black"/>
                <a:cs typeface="Arial Black"/>
              </a:rPr>
              <a:t>rooms</a:t>
            </a:r>
            <a:r>
              <a:rPr dirty="0" sz="3400" spc="-235">
                <a:latin typeface="Arial Black"/>
                <a:cs typeface="Arial Black"/>
              </a:rPr>
              <a:t> </a:t>
            </a:r>
            <a:r>
              <a:rPr dirty="0" sz="1550" spc="2275" b="1">
                <a:latin typeface="Arial"/>
                <a:cs typeface="Arial"/>
              </a:rPr>
              <a:t>≈</a:t>
            </a:r>
            <a:r>
              <a:rPr dirty="0" sz="1550" b="1">
                <a:latin typeface="Arial"/>
                <a:cs typeface="Arial"/>
              </a:rPr>
              <a:t>	</a:t>
            </a:r>
            <a:r>
              <a:rPr dirty="0" sz="3400" spc="-325">
                <a:latin typeface="Arial Black"/>
                <a:cs typeface="Arial Black"/>
              </a:rPr>
              <a:t>6.28</a:t>
            </a:r>
            <a:endParaRPr sz="34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3400">
              <a:latin typeface="Arial Black"/>
              <a:cs typeface="Arial Black"/>
            </a:endParaRPr>
          </a:p>
          <a:p>
            <a:pPr marL="27940">
              <a:lnSpc>
                <a:spcPct val="100000"/>
              </a:lnSpc>
            </a:pPr>
            <a:r>
              <a:rPr dirty="0" sz="3400" spc="-10">
                <a:latin typeface="Lucida Sans Unicode"/>
                <a:cs typeface="Lucida Sans Unicode"/>
              </a:rPr>
              <a:t>Most</a:t>
            </a:r>
            <a:r>
              <a:rPr dirty="0" sz="3400" spc="-250">
                <a:latin typeface="Lucida Sans Unicode"/>
                <a:cs typeface="Lucida Sans Unicode"/>
              </a:rPr>
              <a:t> </a:t>
            </a:r>
            <a:r>
              <a:rPr dirty="0" sz="3400" spc="-65">
                <a:latin typeface="Lucida Sans Unicode"/>
                <a:cs typeface="Lucida Sans Unicode"/>
              </a:rPr>
              <a:t>houses</a:t>
            </a:r>
            <a:r>
              <a:rPr dirty="0" sz="3400" spc="-204">
                <a:latin typeface="Lucida Sans Unicode"/>
                <a:cs typeface="Lucida Sans Unicode"/>
              </a:rPr>
              <a:t> </a:t>
            </a:r>
            <a:r>
              <a:rPr dirty="0" sz="3400">
                <a:latin typeface="Lucida Sans Unicode"/>
                <a:cs typeface="Lucida Sans Unicode"/>
              </a:rPr>
              <a:t>have</a:t>
            </a:r>
            <a:r>
              <a:rPr dirty="0" sz="3400" spc="-215">
                <a:latin typeface="Lucida Sans Unicode"/>
                <a:cs typeface="Lucida Sans Unicode"/>
              </a:rPr>
              <a:t> </a:t>
            </a:r>
            <a:r>
              <a:rPr dirty="0" sz="3400" spc="-30">
                <a:latin typeface="Lucida Sans Unicode"/>
                <a:cs typeface="Lucida Sans Unicode"/>
              </a:rPr>
              <a:t>around</a:t>
            </a:r>
            <a:r>
              <a:rPr dirty="0" sz="3400" spc="-215">
                <a:latin typeface="Lucida Sans Unicode"/>
                <a:cs typeface="Lucida Sans Unicode"/>
              </a:rPr>
              <a:t> 6</a:t>
            </a:r>
            <a:r>
              <a:rPr dirty="0" sz="3400" spc="-195">
                <a:latin typeface="Lucida Sans Unicode"/>
                <a:cs typeface="Lucida Sans Unicode"/>
              </a:rPr>
              <a:t> </a:t>
            </a:r>
            <a:r>
              <a:rPr dirty="0" sz="3400" spc="-10">
                <a:latin typeface="Lucida Sans Unicode"/>
                <a:cs typeface="Lucida Sans Unicode"/>
              </a:rPr>
              <a:t>rooms.</a:t>
            </a:r>
            <a:endParaRPr sz="34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dirty="0" sz="3300" spc="-75">
                <a:latin typeface="Lucida Sans Unicode"/>
                <a:cs typeface="Lucida Sans Unicode"/>
              </a:rPr>
              <a:t>The</a:t>
            </a:r>
            <a:r>
              <a:rPr dirty="0" sz="3300" spc="-190">
                <a:latin typeface="Lucida Sans Unicode"/>
                <a:cs typeface="Lucida Sans Unicode"/>
              </a:rPr>
              <a:t> </a:t>
            </a:r>
            <a:r>
              <a:rPr dirty="0" sz="3300" spc="-45">
                <a:latin typeface="Lucida Sans Unicode"/>
                <a:cs typeface="Lucida Sans Unicode"/>
              </a:rPr>
              <a:t>distribution</a:t>
            </a:r>
            <a:r>
              <a:rPr dirty="0" sz="3300" spc="-200">
                <a:latin typeface="Lucida Sans Unicode"/>
                <a:cs typeface="Lucida Sans Unicode"/>
              </a:rPr>
              <a:t> </a:t>
            </a:r>
            <a:r>
              <a:rPr dirty="0" sz="3300" spc="-105">
                <a:latin typeface="Lucida Sans Unicode"/>
                <a:cs typeface="Lucida Sans Unicode"/>
              </a:rPr>
              <a:t>is</a:t>
            </a:r>
            <a:r>
              <a:rPr dirty="0" sz="3300" spc="-180">
                <a:latin typeface="Lucida Sans Unicode"/>
                <a:cs typeface="Lucida Sans Unicode"/>
              </a:rPr>
              <a:t> </a:t>
            </a:r>
            <a:r>
              <a:rPr dirty="0" sz="3300" spc="-55">
                <a:latin typeface="Lucida Sans Unicode"/>
                <a:cs typeface="Lucida Sans Unicode"/>
              </a:rPr>
              <a:t>close</a:t>
            </a:r>
            <a:r>
              <a:rPr dirty="0" sz="3300" spc="-190">
                <a:latin typeface="Lucida Sans Unicode"/>
                <a:cs typeface="Lucida Sans Unicode"/>
              </a:rPr>
              <a:t> </a:t>
            </a:r>
            <a:r>
              <a:rPr dirty="0" sz="3300">
                <a:latin typeface="Lucida Sans Unicode"/>
                <a:cs typeface="Lucida Sans Unicode"/>
              </a:rPr>
              <a:t>to</a:t>
            </a:r>
            <a:r>
              <a:rPr dirty="0" sz="3300" spc="-190">
                <a:latin typeface="Lucida Sans Unicode"/>
                <a:cs typeface="Lucida Sans Unicode"/>
              </a:rPr>
              <a:t> </a:t>
            </a:r>
            <a:r>
              <a:rPr dirty="0" sz="3300" spc="-10">
                <a:latin typeface="Lucida Sans Unicode"/>
                <a:cs typeface="Lucida Sans Unicode"/>
              </a:rPr>
              <a:t>normal.</a:t>
            </a:r>
            <a:endParaRPr sz="33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651635">
              <a:lnSpc>
                <a:spcPct val="100000"/>
              </a:lnSpc>
              <a:spcBef>
                <a:spcPts val="100"/>
              </a:spcBef>
            </a:pPr>
            <a:r>
              <a:rPr dirty="0" spc="-550"/>
              <a:t>Average</a:t>
            </a:r>
            <a:r>
              <a:rPr dirty="0" spc="-670"/>
              <a:t> </a:t>
            </a:r>
            <a:r>
              <a:rPr dirty="0" spc="-580"/>
              <a:t>age</a:t>
            </a:r>
            <a:r>
              <a:rPr dirty="0" spc="-670"/>
              <a:t> </a:t>
            </a:r>
            <a:r>
              <a:rPr dirty="0" spc="-270"/>
              <a:t>of</a:t>
            </a:r>
            <a:r>
              <a:rPr dirty="0" spc="-670"/>
              <a:t> </a:t>
            </a:r>
            <a:r>
              <a:rPr dirty="0" spc="-620"/>
              <a:t>houses</a:t>
            </a:r>
          </a:p>
        </p:txBody>
      </p:sp>
      <p:sp>
        <p:nvSpPr>
          <p:cNvPr id="3" name="object 3"/>
          <p:cNvSpPr/>
          <p:nvPr/>
        </p:nvSpPr>
        <p:spPr>
          <a:xfrm>
            <a:off x="2937309" y="2423794"/>
            <a:ext cx="14013180" cy="0"/>
          </a:xfrm>
          <a:custGeom>
            <a:avLst/>
            <a:gdLst/>
            <a:ahLst/>
            <a:cxnLst/>
            <a:rect l="l" t="t" r="r" b="b"/>
            <a:pathLst>
              <a:path w="14013180" h="0">
                <a:moveTo>
                  <a:pt x="0" y="0"/>
                </a:moveTo>
                <a:lnTo>
                  <a:pt x="14012695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80761" y="3493248"/>
            <a:ext cx="9515474" cy="648945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74" y="4077568"/>
            <a:ext cx="238125" cy="2381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74" y="4887193"/>
            <a:ext cx="238125" cy="2381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74" y="6506443"/>
            <a:ext cx="238125" cy="23812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73807" y="3723720"/>
            <a:ext cx="6069965" cy="48831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16799"/>
              </a:lnSpc>
              <a:spcBef>
                <a:spcPts val="90"/>
              </a:spcBef>
              <a:tabLst>
                <a:tab pos="4563745" algn="l"/>
              </a:tabLst>
            </a:pPr>
            <a:r>
              <a:rPr dirty="0" sz="4550" spc="-265">
                <a:latin typeface="Arial Black"/>
                <a:cs typeface="Arial Black"/>
              </a:rPr>
              <a:t>Average</a:t>
            </a:r>
            <a:r>
              <a:rPr dirty="0" sz="4550" spc="-335">
                <a:latin typeface="Arial Black"/>
                <a:cs typeface="Arial Black"/>
              </a:rPr>
              <a:t> </a:t>
            </a:r>
            <a:r>
              <a:rPr dirty="0" sz="4550" spc="-580">
                <a:latin typeface="Arial Black"/>
                <a:cs typeface="Arial Black"/>
              </a:rPr>
              <a:t>AGE</a:t>
            </a:r>
            <a:r>
              <a:rPr dirty="0" sz="4550" spc="-330">
                <a:latin typeface="Arial Black"/>
                <a:cs typeface="Arial Black"/>
              </a:rPr>
              <a:t> </a:t>
            </a:r>
            <a:r>
              <a:rPr dirty="0" sz="2100" spc="3055" b="1">
                <a:latin typeface="Arial"/>
                <a:cs typeface="Arial"/>
              </a:rPr>
              <a:t>≈</a:t>
            </a:r>
            <a:r>
              <a:rPr dirty="0" sz="2100" b="1">
                <a:latin typeface="Arial"/>
                <a:cs typeface="Arial"/>
              </a:rPr>
              <a:t>	</a:t>
            </a:r>
            <a:r>
              <a:rPr dirty="0" sz="4550" spc="-400">
                <a:latin typeface="Arial Black"/>
                <a:cs typeface="Arial Black"/>
              </a:rPr>
              <a:t>68.57 </a:t>
            </a:r>
            <a:r>
              <a:rPr dirty="0" sz="4550">
                <a:latin typeface="Lucida Sans Unicode"/>
                <a:cs typeface="Lucida Sans Unicode"/>
              </a:rPr>
              <a:t>Most</a:t>
            </a:r>
            <a:r>
              <a:rPr dirty="0" sz="4550" spc="-280">
                <a:latin typeface="Lucida Sans Unicode"/>
                <a:cs typeface="Lucida Sans Unicode"/>
              </a:rPr>
              <a:t> </a:t>
            </a:r>
            <a:r>
              <a:rPr dirty="0" sz="4550" spc="-65">
                <a:latin typeface="Lucida Sans Unicode"/>
                <a:cs typeface="Lucida Sans Unicode"/>
              </a:rPr>
              <a:t>houses</a:t>
            </a:r>
            <a:r>
              <a:rPr dirty="0" sz="4550" spc="-280">
                <a:latin typeface="Lucida Sans Unicode"/>
                <a:cs typeface="Lucida Sans Unicode"/>
              </a:rPr>
              <a:t> </a:t>
            </a:r>
            <a:r>
              <a:rPr dirty="0" sz="4550">
                <a:latin typeface="Lucida Sans Unicode"/>
                <a:cs typeface="Lucida Sans Unicode"/>
              </a:rPr>
              <a:t>are</a:t>
            </a:r>
            <a:r>
              <a:rPr dirty="0" sz="4550" spc="-280">
                <a:latin typeface="Lucida Sans Unicode"/>
                <a:cs typeface="Lucida Sans Unicode"/>
              </a:rPr>
              <a:t> </a:t>
            </a:r>
            <a:r>
              <a:rPr dirty="0" sz="4550" spc="-25">
                <a:latin typeface="Lucida Sans Unicode"/>
                <a:cs typeface="Lucida Sans Unicode"/>
              </a:rPr>
              <a:t>old </a:t>
            </a:r>
            <a:r>
              <a:rPr dirty="0" sz="4550" spc="-95">
                <a:latin typeface="Lucida Sans Unicode"/>
                <a:cs typeface="Lucida Sans Unicode"/>
              </a:rPr>
              <a:t>(built</a:t>
            </a:r>
            <a:r>
              <a:rPr dirty="0" sz="4550" spc="-265">
                <a:latin typeface="Lucida Sans Unicode"/>
                <a:cs typeface="Lucida Sans Unicode"/>
              </a:rPr>
              <a:t> </a:t>
            </a:r>
            <a:r>
              <a:rPr dirty="0" sz="4550" spc="-35">
                <a:latin typeface="Lucida Sans Unicode"/>
                <a:cs typeface="Lucida Sans Unicode"/>
              </a:rPr>
              <a:t>before</a:t>
            </a:r>
            <a:r>
              <a:rPr dirty="0" sz="4550" spc="-310">
                <a:latin typeface="Lucida Sans Unicode"/>
                <a:cs typeface="Lucida Sans Unicode"/>
              </a:rPr>
              <a:t> </a:t>
            </a:r>
            <a:r>
              <a:rPr dirty="0" sz="4550" spc="-265">
                <a:latin typeface="Lucida Sans Unicode"/>
                <a:cs typeface="Lucida Sans Unicode"/>
              </a:rPr>
              <a:t>1940).</a:t>
            </a:r>
            <a:endParaRPr sz="4550">
              <a:latin typeface="Lucida Sans Unicode"/>
              <a:cs typeface="Lucida Sans Unicode"/>
            </a:endParaRPr>
          </a:p>
          <a:p>
            <a:pPr marL="12700" marR="520065">
              <a:lnSpc>
                <a:spcPts val="6380"/>
              </a:lnSpc>
              <a:spcBef>
                <a:spcPts val="165"/>
              </a:spcBef>
            </a:pPr>
            <a:r>
              <a:rPr dirty="0" sz="4550">
                <a:latin typeface="Lucida Sans Unicode"/>
                <a:cs typeface="Lucida Sans Unicode"/>
              </a:rPr>
              <a:t>New</a:t>
            </a:r>
            <a:r>
              <a:rPr dirty="0" sz="4550" spc="-229">
                <a:latin typeface="Lucida Sans Unicode"/>
                <a:cs typeface="Lucida Sans Unicode"/>
              </a:rPr>
              <a:t> </a:t>
            </a:r>
            <a:r>
              <a:rPr dirty="0" sz="4550" spc="-65">
                <a:latin typeface="Lucida Sans Unicode"/>
                <a:cs typeface="Lucida Sans Unicode"/>
              </a:rPr>
              <a:t>houses</a:t>
            </a:r>
            <a:r>
              <a:rPr dirty="0" sz="4550" spc="-225">
                <a:latin typeface="Lucida Sans Unicode"/>
                <a:cs typeface="Lucida Sans Unicode"/>
              </a:rPr>
              <a:t> </a:t>
            </a:r>
            <a:r>
              <a:rPr dirty="0" sz="4550">
                <a:latin typeface="Lucida Sans Unicode"/>
                <a:cs typeface="Lucida Sans Unicode"/>
              </a:rPr>
              <a:t>are</a:t>
            </a:r>
            <a:r>
              <a:rPr dirty="0" sz="4550" spc="-225">
                <a:latin typeface="Lucida Sans Unicode"/>
                <a:cs typeface="Lucida Sans Unicode"/>
              </a:rPr>
              <a:t> </a:t>
            </a:r>
            <a:r>
              <a:rPr dirty="0" sz="4550" spc="-55">
                <a:latin typeface="Lucida Sans Unicode"/>
                <a:cs typeface="Lucida Sans Unicode"/>
              </a:rPr>
              <a:t>less </a:t>
            </a:r>
            <a:r>
              <a:rPr dirty="0" sz="4550" spc="-50">
                <a:latin typeface="Lucida Sans Unicode"/>
                <a:cs typeface="Lucida Sans Unicode"/>
              </a:rPr>
              <a:t>common</a:t>
            </a:r>
            <a:r>
              <a:rPr dirty="0" sz="4550" spc="-270">
                <a:latin typeface="Lucida Sans Unicode"/>
                <a:cs typeface="Lucida Sans Unicode"/>
              </a:rPr>
              <a:t> </a:t>
            </a:r>
            <a:r>
              <a:rPr dirty="0" sz="4550" spc="-80">
                <a:latin typeface="Lucida Sans Unicode"/>
                <a:cs typeface="Lucida Sans Unicode"/>
              </a:rPr>
              <a:t>in</a:t>
            </a:r>
            <a:r>
              <a:rPr dirty="0" sz="4550" spc="-265">
                <a:latin typeface="Lucida Sans Unicode"/>
                <a:cs typeface="Lucida Sans Unicode"/>
              </a:rPr>
              <a:t> </a:t>
            </a:r>
            <a:r>
              <a:rPr dirty="0" sz="4550" spc="-25">
                <a:latin typeface="Lucida Sans Unicode"/>
                <a:cs typeface="Lucida Sans Unicode"/>
              </a:rPr>
              <a:t>the </a:t>
            </a:r>
            <a:r>
              <a:rPr dirty="0" sz="4550" spc="-10">
                <a:latin typeface="Lucida Sans Unicode"/>
                <a:cs typeface="Lucida Sans Unicode"/>
              </a:rPr>
              <a:t>dataset.</a:t>
            </a:r>
            <a:endParaRPr sz="45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751964">
              <a:lnSpc>
                <a:spcPct val="100000"/>
              </a:lnSpc>
              <a:spcBef>
                <a:spcPts val="100"/>
              </a:spcBef>
            </a:pPr>
            <a:r>
              <a:rPr dirty="0" spc="-550"/>
              <a:t>Average</a:t>
            </a:r>
            <a:r>
              <a:rPr dirty="0" spc="-640"/>
              <a:t> </a:t>
            </a:r>
            <a:r>
              <a:rPr dirty="0" spc="-265"/>
              <a:t>pupil-</a:t>
            </a:r>
            <a:r>
              <a:rPr dirty="0" spc="-540"/>
              <a:t>teacher</a:t>
            </a:r>
          </a:p>
        </p:txBody>
      </p:sp>
      <p:sp>
        <p:nvSpPr>
          <p:cNvPr id="3" name="object 3"/>
          <p:cNvSpPr/>
          <p:nvPr/>
        </p:nvSpPr>
        <p:spPr>
          <a:xfrm>
            <a:off x="2937414" y="2423794"/>
            <a:ext cx="13774419" cy="0"/>
          </a:xfrm>
          <a:custGeom>
            <a:avLst/>
            <a:gdLst/>
            <a:ahLst/>
            <a:cxnLst/>
            <a:rect l="l" t="t" r="r" b="b"/>
            <a:pathLst>
              <a:path w="13774419" h="0">
                <a:moveTo>
                  <a:pt x="0" y="0"/>
                </a:moveTo>
                <a:lnTo>
                  <a:pt x="13774397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779426" rIns="0" bIns="0" rtlCol="0" vert="horz">
            <a:spAutoFit/>
          </a:bodyPr>
          <a:lstStyle/>
          <a:p>
            <a:pPr marL="506730">
              <a:lnSpc>
                <a:spcPct val="100000"/>
              </a:lnSpc>
              <a:spcBef>
                <a:spcPts val="130"/>
              </a:spcBef>
            </a:pPr>
            <a:r>
              <a:rPr dirty="0" sz="6950" spc="-55"/>
              <a:t>Average</a:t>
            </a:r>
            <a:r>
              <a:rPr dirty="0" sz="6950" spc="-450"/>
              <a:t> </a:t>
            </a:r>
            <a:r>
              <a:rPr dirty="0" sz="6950" spc="-409"/>
              <a:t>pupil-</a:t>
            </a:r>
            <a:r>
              <a:rPr dirty="0" sz="6950" spc="-10"/>
              <a:t>teacher</a:t>
            </a:r>
            <a:r>
              <a:rPr dirty="0" sz="6950" spc="-450"/>
              <a:t> </a:t>
            </a:r>
            <a:r>
              <a:rPr dirty="0" sz="6950" spc="-80"/>
              <a:t>ratio</a:t>
            </a:r>
            <a:r>
              <a:rPr dirty="0" sz="6950" spc="-450"/>
              <a:t> </a:t>
            </a:r>
            <a:r>
              <a:rPr dirty="0" sz="2900" spc="4275"/>
              <a:t>≈</a:t>
            </a:r>
            <a:r>
              <a:rPr dirty="0" sz="2900" spc="1195"/>
              <a:t> </a:t>
            </a:r>
            <a:r>
              <a:rPr dirty="0" sz="6950" spc="-434"/>
              <a:t>18.46</a:t>
            </a:r>
            <a:endParaRPr sz="6950"/>
          </a:p>
          <a:p>
            <a:pPr marL="506730" marR="27305">
              <a:lnSpc>
                <a:spcPct val="117100"/>
              </a:lnSpc>
              <a:spcBef>
                <a:spcPts val="9765"/>
              </a:spcBef>
            </a:pPr>
            <a:r>
              <a:rPr dirty="0" sz="6950"/>
              <a:t>Most</a:t>
            </a:r>
            <a:r>
              <a:rPr dirty="0" sz="6950" spc="-455"/>
              <a:t> </a:t>
            </a:r>
            <a:r>
              <a:rPr dirty="0" sz="6950" spc="-60"/>
              <a:t>values</a:t>
            </a:r>
            <a:r>
              <a:rPr dirty="0" sz="6950" spc="-420"/>
              <a:t> </a:t>
            </a:r>
            <a:r>
              <a:rPr dirty="0" sz="6950"/>
              <a:t>are</a:t>
            </a:r>
            <a:r>
              <a:rPr dirty="0" sz="6950" spc="-420"/>
              <a:t> </a:t>
            </a:r>
            <a:r>
              <a:rPr dirty="0" sz="6950"/>
              <a:t>between</a:t>
            </a:r>
            <a:r>
              <a:rPr dirty="0" sz="6950" spc="-425"/>
              <a:t> </a:t>
            </a:r>
            <a:r>
              <a:rPr dirty="0" sz="6950" spc="-445"/>
              <a:t>18</a:t>
            </a:r>
            <a:r>
              <a:rPr dirty="0" sz="6950" spc="-390"/>
              <a:t> </a:t>
            </a:r>
            <a:r>
              <a:rPr dirty="0" sz="6950"/>
              <a:t>and</a:t>
            </a:r>
            <a:r>
              <a:rPr dirty="0" sz="6950" spc="-420"/>
              <a:t> </a:t>
            </a:r>
            <a:r>
              <a:rPr dirty="0" sz="6950" spc="-434"/>
              <a:t>20. </a:t>
            </a:r>
            <a:r>
              <a:rPr dirty="0" sz="6950" spc="-105"/>
              <a:t>There</a:t>
            </a:r>
            <a:r>
              <a:rPr dirty="0" sz="6950" spc="-445"/>
              <a:t> </a:t>
            </a:r>
            <a:r>
              <a:rPr dirty="0" sz="6950" spc="-225"/>
              <a:t>is</a:t>
            </a:r>
            <a:r>
              <a:rPr dirty="0" sz="6950" spc="-390"/>
              <a:t> </a:t>
            </a:r>
            <a:r>
              <a:rPr dirty="0" sz="6950" spc="-20"/>
              <a:t>not</a:t>
            </a:r>
            <a:r>
              <a:rPr dirty="0" sz="6950" spc="-530"/>
              <a:t> </a:t>
            </a:r>
            <a:r>
              <a:rPr dirty="0" sz="6950" spc="-25"/>
              <a:t>much</a:t>
            </a:r>
            <a:r>
              <a:rPr dirty="0" sz="6950" spc="-505"/>
              <a:t> </a:t>
            </a:r>
            <a:r>
              <a:rPr dirty="0" sz="6950" spc="-10"/>
              <a:t>variation.</a:t>
            </a:r>
            <a:endParaRPr sz="69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09651" y="2442844"/>
            <a:ext cx="12668885" cy="0"/>
          </a:xfrm>
          <a:custGeom>
            <a:avLst/>
            <a:gdLst/>
            <a:ahLst/>
            <a:cxnLst/>
            <a:rect l="l" t="t" r="r" b="b"/>
            <a:pathLst>
              <a:path w="12668885" h="0">
                <a:moveTo>
                  <a:pt x="0" y="0"/>
                </a:moveTo>
                <a:lnTo>
                  <a:pt x="12668695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2829" y="2703424"/>
            <a:ext cx="10435169" cy="7324724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38885">
              <a:lnSpc>
                <a:spcPct val="100000"/>
              </a:lnSpc>
              <a:spcBef>
                <a:spcPts val="100"/>
              </a:spcBef>
            </a:pPr>
            <a:r>
              <a:rPr dirty="0" spc="-680"/>
              <a:t>Rooms</a:t>
            </a:r>
            <a:r>
              <a:rPr dirty="0" spc="-675"/>
              <a:t> </a:t>
            </a:r>
            <a:r>
              <a:rPr dirty="0" spc="-735"/>
              <a:t>vs</a:t>
            </a:r>
            <a:r>
              <a:rPr dirty="0" spc="-670"/>
              <a:t> </a:t>
            </a:r>
            <a:r>
              <a:rPr dirty="0" spc="-630"/>
              <a:t>House</a:t>
            </a:r>
            <a:r>
              <a:rPr dirty="0" spc="-670"/>
              <a:t> Price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-12700" y="3225908"/>
            <a:ext cx="7816215" cy="5680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500">
                <a:latin typeface="Lucida Sans Unicode"/>
                <a:cs typeface="Lucida Sans Unicode"/>
              </a:rPr>
              <a:t>More</a:t>
            </a:r>
            <a:r>
              <a:rPr dirty="0" sz="4500" spc="-254">
                <a:latin typeface="Lucida Sans Unicode"/>
                <a:cs typeface="Lucida Sans Unicode"/>
              </a:rPr>
              <a:t> </a:t>
            </a:r>
            <a:r>
              <a:rPr dirty="0" sz="4500" spc="-65">
                <a:latin typeface="Lucida Sans Unicode"/>
                <a:cs typeface="Lucida Sans Unicode"/>
              </a:rPr>
              <a:t>rooms</a:t>
            </a:r>
            <a:r>
              <a:rPr dirty="0" sz="4500" spc="-250">
                <a:latin typeface="Lucida Sans Unicode"/>
                <a:cs typeface="Lucida Sans Unicode"/>
              </a:rPr>
              <a:t> </a:t>
            </a:r>
            <a:r>
              <a:rPr dirty="0" sz="2100" spc="2780">
                <a:latin typeface="Lucida Sans Unicode"/>
                <a:cs typeface="Lucida Sans Unicode"/>
              </a:rPr>
              <a:t>→</a:t>
            </a:r>
            <a:r>
              <a:rPr dirty="0" sz="2100" spc="250">
                <a:latin typeface="Lucida Sans Unicode"/>
                <a:cs typeface="Lucida Sans Unicode"/>
              </a:rPr>
              <a:t> </a:t>
            </a:r>
            <a:r>
              <a:rPr dirty="0" sz="4500" spc="-20">
                <a:latin typeface="Lucida Sans Unicode"/>
                <a:cs typeface="Lucida Sans Unicode"/>
              </a:rPr>
              <a:t>Higher</a:t>
            </a:r>
            <a:r>
              <a:rPr dirty="0" sz="4500" spc="-250">
                <a:latin typeface="Lucida Sans Unicode"/>
                <a:cs typeface="Lucida Sans Unicode"/>
              </a:rPr>
              <a:t> </a:t>
            </a:r>
            <a:r>
              <a:rPr dirty="0" sz="4500" spc="-10">
                <a:latin typeface="Lucida Sans Unicode"/>
                <a:cs typeface="Lucida Sans Unicode"/>
              </a:rPr>
              <a:t>price</a:t>
            </a:r>
            <a:endParaRPr sz="4500">
              <a:latin typeface="Lucida Sans Unicode"/>
              <a:cs typeface="Lucida Sans Unicode"/>
            </a:endParaRPr>
          </a:p>
          <a:p>
            <a:pPr marL="326390">
              <a:lnSpc>
                <a:spcPct val="100000"/>
              </a:lnSpc>
              <a:spcBef>
                <a:spcPts val="4650"/>
              </a:spcBef>
              <a:tabLst>
                <a:tab pos="3608704" algn="l"/>
              </a:tabLst>
            </a:pPr>
            <a:r>
              <a:rPr dirty="0" sz="3600" spc="-165">
                <a:latin typeface="Arial Black"/>
                <a:cs typeface="Arial Black"/>
              </a:rPr>
              <a:t>Correlation</a:t>
            </a:r>
            <a:r>
              <a:rPr dirty="0" sz="3600" spc="-225">
                <a:latin typeface="Arial Black"/>
                <a:cs typeface="Arial Black"/>
              </a:rPr>
              <a:t> </a:t>
            </a:r>
            <a:r>
              <a:rPr dirty="0" sz="1650" spc="2395" b="1">
                <a:latin typeface="Arial"/>
                <a:cs typeface="Arial"/>
              </a:rPr>
              <a:t>≈</a:t>
            </a:r>
            <a:r>
              <a:rPr dirty="0" sz="1650" b="1">
                <a:latin typeface="Arial"/>
                <a:cs typeface="Arial"/>
              </a:rPr>
              <a:t>	</a:t>
            </a:r>
            <a:r>
              <a:rPr dirty="0" sz="3600" spc="-335">
                <a:latin typeface="Arial Black"/>
                <a:cs typeface="Arial Black"/>
              </a:rPr>
              <a:t>0.69</a:t>
            </a:r>
            <a:endParaRPr sz="3600">
              <a:latin typeface="Arial Black"/>
              <a:cs typeface="Arial Black"/>
            </a:endParaRPr>
          </a:p>
          <a:p>
            <a:pPr marL="326390" marR="5080">
              <a:lnSpc>
                <a:spcPct val="116300"/>
              </a:lnSpc>
              <a:spcBef>
                <a:spcPts val="5030"/>
              </a:spcBef>
            </a:pPr>
            <a:r>
              <a:rPr dirty="0" sz="3600" spc="-170">
                <a:latin typeface="Lucida Sans Unicode"/>
                <a:cs typeface="Lucida Sans Unicode"/>
              </a:rPr>
              <a:t>As</a:t>
            </a:r>
            <a:r>
              <a:rPr dirty="0" sz="3600" spc="-204">
                <a:latin typeface="Lucida Sans Unicode"/>
                <a:cs typeface="Lucida Sans Unicode"/>
              </a:rPr>
              <a:t> </a:t>
            </a:r>
            <a:r>
              <a:rPr dirty="0" sz="3600">
                <a:latin typeface="Lucida Sans Unicode"/>
                <a:cs typeface="Lucida Sans Unicode"/>
              </a:rPr>
              <a:t>the</a:t>
            </a:r>
            <a:r>
              <a:rPr dirty="0" sz="3600" spc="-240">
                <a:latin typeface="Lucida Sans Unicode"/>
                <a:cs typeface="Lucida Sans Unicode"/>
              </a:rPr>
              <a:t> </a:t>
            </a:r>
            <a:r>
              <a:rPr dirty="0" sz="3600" spc="-10">
                <a:latin typeface="Lucida Sans Unicode"/>
                <a:cs typeface="Lucida Sans Unicode"/>
              </a:rPr>
              <a:t>number</a:t>
            </a:r>
            <a:r>
              <a:rPr dirty="0" sz="3600" spc="-225">
                <a:latin typeface="Lucida Sans Unicode"/>
                <a:cs typeface="Lucida Sans Unicode"/>
              </a:rPr>
              <a:t> </a:t>
            </a:r>
            <a:r>
              <a:rPr dirty="0" sz="3600" spc="-60">
                <a:latin typeface="Lucida Sans Unicode"/>
                <a:cs typeface="Lucida Sans Unicode"/>
              </a:rPr>
              <a:t>of</a:t>
            </a:r>
            <a:r>
              <a:rPr dirty="0" sz="3600" spc="-220">
                <a:latin typeface="Lucida Sans Unicode"/>
                <a:cs typeface="Lucida Sans Unicode"/>
              </a:rPr>
              <a:t> </a:t>
            </a:r>
            <a:r>
              <a:rPr dirty="0" sz="3600" spc="-60">
                <a:latin typeface="Lucida Sans Unicode"/>
                <a:cs typeface="Lucida Sans Unicode"/>
              </a:rPr>
              <a:t>rooms</a:t>
            </a:r>
            <a:r>
              <a:rPr dirty="0" sz="3600" spc="-225">
                <a:latin typeface="Lucida Sans Unicode"/>
                <a:cs typeface="Lucida Sans Unicode"/>
              </a:rPr>
              <a:t> </a:t>
            </a:r>
            <a:r>
              <a:rPr dirty="0" sz="3600" spc="-50">
                <a:latin typeface="Lucida Sans Unicode"/>
                <a:cs typeface="Lucida Sans Unicode"/>
              </a:rPr>
              <a:t>increases, </a:t>
            </a:r>
            <a:r>
              <a:rPr dirty="0" sz="3600" spc="-30">
                <a:latin typeface="Lucida Sans Unicode"/>
                <a:cs typeface="Lucida Sans Unicode"/>
              </a:rPr>
              <a:t>house</a:t>
            </a:r>
            <a:r>
              <a:rPr dirty="0" sz="3600" spc="-220">
                <a:latin typeface="Lucida Sans Unicode"/>
                <a:cs typeface="Lucida Sans Unicode"/>
              </a:rPr>
              <a:t> </a:t>
            </a:r>
            <a:r>
              <a:rPr dirty="0" sz="3600" spc="-75">
                <a:latin typeface="Lucida Sans Unicode"/>
                <a:cs typeface="Lucida Sans Unicode"/>
              </a:rPr>
              <a:t>prices</a:t>
            </a:r>
            <a:r>
              <a:rPr dirty="0" sz="3600" spc="-210">
                <a:latin typeface="Lucida Sans Unicode"/>
                <a:cs typeface="Lucida Sans Unicode"/>
              </a:rPr>
              <a:t> </a:t>
            </a:r>
            <a:r>
              <a:rPr dirty="0" sz="3600" spc="-10">
                <a:latin typeface="Lucida Sans Unicode"/>
                <a:cs typeface="Lucida Sans Unicode"/>
              </a:rPr>
              <a:t>increase.</a:t>
            </a:r>
            <a:endParaRPr sz="3600">
              <a:latin typeface="Lucida Sans Unicode"/>
              <a:cs typeface="Lucida Sans Unicode"/>
            </a:endParaRPr>
          </a:p>
          <a:p>
            <a:pPr marL="326390" marR="415925">
              <a:lnSpc>
                <a:spcPct val="116300"/>
              </a:lnSpc>
              <a:spcBef>
                <a:spcPts val="5025"/>
              </a:spcBef>
            </a:pPr>
            <a:r>
              <a:rPr dirty="0" sz="3600" spc="-150">
                <a:latin typeface="Lucida Sans Unicode"/>
                <a:cs typeface="Lucida Sans Unicode"/>
              </a:rPr>
              <a:t>This</a:t>
            </a:r>
            <a:r>
              <a:rPr dirty="0" sz="3600" spc="-204">
                <a:latin typeface="Lucida Sans Unicode"/>
                <a:cs typeface="Lucida Sans Unicode"/>
              </a:rPr>
              <a:t> </a:t>
            </a:r>
            <a:r>
              <a:rPr dirty="0" sz="3600" spc="-75">
                <a:latin typeface="Lucida Sans Unicode"/>
                <a:cs typeface="Lucida Sans Unicode"/>
              </a:rPr>
              <a:t>shows</a:t>
            </a:r>
            <a:r>
              <a:rPr dirty="0" sz="3600" spc="-210">
                <a:latin typeface="Lucida Sans Unicode"/>
                <a:cs typeface="Lucida Sans Unicode"/>
              </a:rPr>
              <a:t> </a:t>
            </a:r>
            <a:r>
              <a:rPr dirty="0" sz="3600" spc="-20">
                <a:latin typeface="Lucida Sans Unicode"/>
                <a:cs typeface="Lucida Sans Unicode"/>
              </a:rPr>
              <a:t>that</a:t>
            </a:r>
            <a:r>
              <a:rPr dirty="0" sz="3600" spc="-210">
                <a:latin typeface="Lucida Sans Unicode"/>
                <a:cs typeface="Lucida Sans Unicode"/>
              </a:rPr>
              <a:t> </a:t>
            </a:r>
            <a:r>
              <a:rPr dirty="0" sz="3600" spc="-30">
                <a:latin typeface="Lucida Sans Unicode"/>
                <a:cs typeface="Lucida Sans Unicode"/>
              </a:rPr>
              <a:t>room</a:t>
            </a:r>
            <a:r>
              <a:rPr dirty="0" sz="3600" spc="-204">
                <a:latin typeface="Lucida Sans Unicode"/>
                <a:cs typeface="Lucida Sans Unicode"/>
              </a:rPr>
              <a:t> </a:t>
            </a:r>
            <a:r>
              <a:rPr dirty="0" sz="3600" spc="-55">
                <a:latin typeface="Lucida Sans Unicode"/>
                <a:cs typeface="Lucida Sans Unicode"/>
              </a:rPr>
              <a:t>count</a:t>
            </a:r>
            <a:r>
              <a:rPr dirty="0" sz="3600" spc="-210">
                <a:latin typeface="Lucida Sans Unicode"/>
                <a:cs typeface="Lucida Sans Unicode"/>
              </a:rPr>
              <a:t> </a:t>
            </a:r>
            <a:r>
              <a:rPr dirty="0" sz="3600" spc="-130">
                <a:latin typeface="Lucida Sans Unicode"/>
                <a:cs typeface="Lucida Sans Unicode"/>
              </a:rPr>
              <a:t>is</a:t>
            </a:r>
            <a:r>
              <a:rPr dirty="0" sz="3600" spc="-204">
                <a:latin typeface="Lucida Sans Unicode"/>
                <a:cs typeface="Lucida Sans Unicode"/>
              </a:rPr>
              <a:t> </a:t>
            </a:r>
            <a:r>
              <a:rPr dirty="0" sz="3600" spc="-25">
                <a:latin typeface="Lucida Sans Unicode"/>
                <a:cs typeface="Lucida Sans Unicode"/>
              </a:rPr>
              <a:t>an </a:t>
            </a:r>
            <a:r>
              <a:rPr dirty="0" sz="3600" spc="-35">
                <a:latin typeface="Lucida Sans Unicode"/>
                <a:cs typeface="Lucida Sans Unicode"/>
              </a:rPr>
              <a:t>important</a:t>
            </a:r>
            <a:r>
              <a:rPr dirty="0" sz="3600" spc="-229">
                <a:latin typeface="Lucida Sans Unicode"/>
                <a:cs typeface="Lucida Sans Unicode"/>
              </a:rPr>
              <a:t> </a:t>
            </a:r>
            <a:r>
              <a:rPr dirty="0" sz="3600" spc="-10">
                <a:latin typeface="Lucida Sans Unicode"/>
                <a:cs typeface="Lucida Sans Unicode"/>
              </a:rPr>
              <a:t>factor.</a:t>
            </a:r>
            <a:endParaRPr sz="36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122170">
              <a:lnSpc>
                <a:spcPct val="100000"/>
              </a:lnSpc>
              <a:spcBef>
                <a:spcPts val="100"/>
              </a:spcBef>
            </a:pPr>
            <a:r>
              <a:rPr dirty="0" spc="-1185"/>
              <a:t>LS</a:t>
            </a:r>
            <a:r>
              <a:rPr dirty="0" spc="-1985"/>
              <a:t>T</a:t>
            </a:r>
            <a:r>
              <a:rPr dirty="0" spc="-1910"/>
              <a:t>A</a:t>
            </a:r>
            <a:r>
              <a:rPr dirty="0" spc="-1175"/>
              <a:t>T</a:t>
            </a:r>
            <a:r>
              <a:rPr dirty="0" spc="-660"/>
              <a:t> </a:t>
            </a:r>
            <a:r>
              <a:rPr dirty="0" spc="-735"/>
              <a:t>vs</a:t>
            </a:r>
            <a:r>
              <a:rPr dirty="0" spc="-655"/>
              <a:t> </a:t>
            </a:r>
            <a:r>
              <a:rPr dirty="0" spc="-630"/>
              <a:t>House</a:t>
            </a:r>
            <a:r>
              <a:rPr dirty="0" spc="-660"/>
              <a:t> </a:t>
            </a:r>
            <a:r>
              <a:rPr dirty="0" spc="-670"/>
              <a:t>Price</a:t>
            </a:r>
          </a:p>
        </p:txBody>
      </p:sp>
      <p:sp>
        <p:nvSpPr>
          <p:cNvPr id="3" name="object 3"/>
          <p:cNvSpPr/>
          <p:nvPr/>
        </p:nvSpPr>
        <p:spPr>
          <a:xfrm>
            <a:off x="3461898" y="2423794"/>
            <a:ext cx="12254230" cy="0"/>
          </a:xfrm>
          <a:custGeom>
            <a:avLst/>
            <a:gdLst/>
            <a:ahLst/>
            <a:cxnLst/>
            <a:rect l="l" t="t" r="r" b="b"/>
            <a:pathLst>
              <a:path w="12254230" h="0">
                <a:moveTo>
                  <a:pt x="0" y="0"/>
                </a:moveTo>
                <a:lnTo>
                  <a:pt x="12253666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34630" y="3403896"/>
            <a:ext cx="9496425" cy="63150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0124" y="4777732"/>
            <a:ext cx="209550" cy="2095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0124" y="6263632"/>
            <a:ext cx="209550" cy="2095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4874" y="8463906"/>
            <a:ext cx="171450" cy="17144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016744" y="3493920"/>
            <a:ext cx="6913880" cy="59264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 spc="-30">
                <a:latin typeface="Lucida Sans Unicode"/>
                <a:cs typeface="Lucida Sans Unicode"/>
              </a:rPr>
              <a:t>Higher</a:t>
            </a:r>
            <a:r>
              <a:rPr dirty="0" sz="4000" spc="-260">
                <a:latin typeface="Lucida Sans Unicode"/>
                <a:cs typeface="Lucida Sans Unicode"/>
              </a:rPr>
              <a:t> </a:t>
            </a:r>
            <a:r>
              <a:rPr dirty="0" sz="4000" spc="-285">
                <a:latin typeface="Lucida Sans Unicode"/>
                <a:cs typeface="Lucida Sans Unicode"/>
              </a:rPr>
              <a:t>LSTAT</a:t>
            </a:r>
            <a:r>
              <a:rPr dirty="0" sz="4000" spc="-229">
                <a:latin typeface="Lucida Sans Unicode"/>
                <a:cs typeface="Lucida Sans Unicode"/>
              </a:rPr>
              <a:t> </a:t>
            </a:r>
            <a:r>
              <a:rPr dirty="0" sz="1850" spc="2480">
                <a:latin typeface="Lucida Sans Unicode"/>
                <a:cs typeface="Lucida Sans Unicode"/>
              </a:rPr>
              <a:t>→</a:t>
            </a:r>
            <a:r>
              <a:rPr dirty="0" sz="1850" spc="210">
                <a:latin typeface="Lucida Sans Unicode"/>
                <a:cs typeface="Lucida Sans Unicode"/>
              </a:rPr>
              <a:t> </a:t>
            </a:r>
            <a:r>
              <a:rPr dirty="0" sz="4000" spc="-20">
                <a:latin typeface="Lucida Sans Unicode"/>
                <a:cs typeface="Lucida Sans Unicode"/>
              </a:rPr>
              <a:t>Lower</a:t>
            </a:r>
            <a:r>
              <a:rPr dirty="0" sz="4000" spc="-245">
                <a:latin typeface="Lucida Sans Unicode"/>
                <a:cs typeface="Lucida Sans Unicode"/>
              </a:rPr>
              <a:t> </a:t>
            </a:r>
            <a:r>
              <a:rPr dirty="0" sz="4000" spc="-10">
                <a:latin typeface="Lucida Sans Unicode"/>
                <a:cs typeface="Lucida Sans Unicode"/>
              </a:rPr>
              <a:t>price</a:t>
            </a:r>
            <a:endParaRPr sz="4000">
              <a:latin typeface="Lucida Sans Unicode"/>
              <a:cs typeface="Lucida Sans Unicode"/>
            </a:endParaRPr>
          </a:p>
          <a:p>
            <a:pPr marL="430530">
              <a:lnSpc>
                <a:spcPct val="100000"/>
              </a:lnSpc>
              <a:spcBef>
                <a:spcPts val="3479"/>
              </a:spcBef>
              <a:tabLst>
                <a:tab pos="4259580" algn="l"/>
              </a:tabLst>
            </a:pPr>
            <a:r>
              <a:rPr dirty="0" sz="4200" spc="-185">
                <a:latin typeface="Arial Black"/>
                <a:cs typeface="Arial Black"/>
              </a:rPr>
              <a:t>Correlation</a:t>
            </a:r>
            <a:r>
              <a:rPr dirty="0" sz="4200" spc="-260">
                <a:latin typeface="Arial Black"/>
                <a:cs typeface="Arial Black"/>
              </a:rPr>
              <a:t> </a:t>
            </a:r>
            <a:r>
              <a:rPr dirty="0" sz="1950" spc="2830" b="1">
                <a:latin typeface="Arial"/>
                <a:cs typeface="Arial"/>
              </a:rPr>
              <a:t>≈</a:t>
            </a:r>
            <a:r>
              <a:rPr dirty="0" sz="1950" b="1">
                <a:latin typeface="Arial"/>
                <a:cs typeface="Arial"/>
              </a:rPr>
              <a:t>	</a:t>
            </a:r>
            <a:r>
              <a:rPr dirty="0" sz="4200" spc="-65">
                <a:latin typeface="Arial Black"/>
                <a:cs typeface="Arial Black"/>
              </a:rPr>
              <a:t>-</a:t>
            </a:r>
            <a:r>
              <a:rPr dirty="0" sz="4200" spc="-390">
                <a:latin typeface="Arial Black"/>
                <a:cs typeface="Arial Black"/>
              </a:rPr>
              <a:t>0.73</a:t>
            </a:r>
            <a:endParaRPr sz="4200">
              <a:latin typeface="Arial Black"/>
              <a:cs typeface="Arial Black"/>
            </a:endParaRPr>
          </a:p>
          <a:p>
            <a:pPr marL="430530" marR="5080">
              <a:lnSpc>
                <a:spcPct val="116100"/>
              </a:lnSpc>
              <a:spcBef>
                <a:spcPts val="5850"/>
              </a:spcBef>
            </a:pPr>
            <a:r>
              <a:rPr dirty="0" sz="4200" spc="-190">
                <a:latin typeface="Lucida Sans Unicode"/>
                <a:cs typeface="Lucida Sans Unicode"/>
              </a:rPr>
              <a:t>As</a:t>
            </a:r>
            <a:r>
              <a:rPr dirty="0" sz="4200" spc="-210">
                <a:latin typeface="Lucida Sans Unicode"/>
                <a:cs typeface="Lucida Sans Unicode"/>
              </a:rPr>
              <a:t> </a:t>
            </a:r>
            <a:r>
              <a:rPr dirty="0" sz="4200" spc="-300">
                <a:latin typeface="Lucida Sans Unicode"/>
                <a:cs typeface="Lucida Sans Unicode"/>
              </a:rPr>
              <a:t>LSTAT</a:t>
            </a:r>
            <a:r>
              <a:rPr dirty="0" sz="4200" spc="-204">
                <a:latin typeface="Lucida Sans Unicode"/>
                <a:cs typeface="Lucida Sans Unicode"/>
              </a:rPr>
              <a:t> </a:t>
            </a:r>
            <a:r>
              <a:rPr dirty="0" sz="4200" spc="-85">
                <a:latin typeface="Lucida Sans Unicode"/>
                <a:cs typeface="Lucida Sans Unicode"/>
              </a:rPr>
              <a:t>increases,</a:t>
            </a:r>
            <a:r>
              <a:rPr dirty="0" sz="4200" spc="-210">
                <a:latin typeface="Lucida Sans Unicode"/>
                <a:cs typeface="Lucida Sans Unicode"/>
              </a:rPr>
              <a:t> </a:t>
            </a:r>
            <a:r>
              <a:rPr dirty="0" sz="4200" spc="-10">
                <a:latin typeface="Lucida Sans Unicode"/>
                <a:cs typeface="Lucida Sans Unicode"/>
              </a:rPr>
              <a:t>house </a:t>
            </a:r>
            <a:r>
              <a:rPr dirty="0" sz="4200" spc="-75">
                <a:latin typeface="Lucida Sans Unicode"/>
                <a:cs typeface="Lucida Sans Unicode"/>
              </a:rPr>
              <a:t>prices</a:t>
            </a:r>
            <a:r>
              <a:rPr dirty="0" sz="4200" spc="-225">
                <a:latin typeface="Lucida Sans Unicode"/>
                <a:cs typeface="Lucida Sans Unicode"/>
              </a:rPr>
              <a:t> </a:t>
            </a:r>
            <a:r>
              <a:rPr dirty="0" sz="4200" spc="-10">
                <a:latin typeface="Lucida Sans Unicode"/>
                <a:cs typeface="Lucida Sans Unicode"/>
              </a:rPr>
              <a:t>decrease.</a:t>
            </a:r>
            <a:endParaRPr sz="4200">
              <a:latin typeface="Lucida Sans Unicode"/>
              <a:cs typeface="Lucida Sans Unicode"/>
            </a:endParaRPr>
          </a:p>
          <a:p>
            <a:pPr marL="258445" marR="44450">
              <a:lnSpc>
                <a:spcPct val="115799"/>
              </a:lnSpc>
              <a:spcBef>
                <a:spcPts val="6140"/>
              </a:spcBef>
            </a:pPr>
            <a:r>
              <a:rPr dirty="0" sz="3400" spc="-145">
                <a:latin typeface="Lucida Sans Unicode"/>
                <a:cs typeface="Lucida Sans Unicode"/>
              </a:rPr>
              <a:t>This</a:t>
            </a:r>
            <a:r>
              <a:rPr dirty="0" sz="3400" spc="-195">
                <a:latin typeface="Lucida Sans Unicode"/>
                <a:cs typeface="Lucida Sans Unicode"/>
              </a:rPr>
              <a:t> </a:t>
            </a:r>
            <a:r>
              <a:rPr dirty="0" sz="3400" spc="-130">
                <a:latin typeface="Lucida Sans Unicode"/>
                <a:cs typeface="Lucida Sans Unicode"/>
              </a:rPr>
              <a:t>is</a:t>
            </a:r>
            <a:r>
              <a:rPr dirty="0" sz="3400" spc="-195">
                <a:latin typeface="Lucida Sans Unicode"/>
                <a:cs typeface="Lucida Sans Unicode"/>
              </a:rPr>
              <a:t> </a:t>
            </a:r>
            <a:r>
              <a:rPr dirty="0" sz="3400" spc="-10">
                <a:latin typeface="Lucida Sans Unicode"/>
                <a:cs typeface="Lucida Sans Unicode"/>
              </a:rPr>
              <a:t>the</a:t>
            </a:r>
            <a:r>
              <a:rPr dirty="0" sz="3400" spc="-210">
                <a:latin typeface="Lucida Sans Unicode"/>
                <a:cs typeface="Lucida Sans Unicode"/>
              </a:rPr>
              <a:t> </a:t>
            </a:r>
            <a:r>
              <a:rPr dirty="0" sz="3400" spc="-60">
                <a:latin typeface="Lucida Sans Unicode"/>
                <a:cs typeface="Lucida Sans Unicode"/>
              </a:rPr>
              <a:t>strongest</a:t>
            </a:r>
            <a:r>
              <a:rPr dirty="0" sz="3400" spc="-195">
                <a:latin typeface="Lucida Sans Unicode"/>
                <a:cs typeface="Lucida Sans Unicode"/>
              </a:rPr>
              <a:t> </a:t>
            </a:r>
            <a:r>
              <a:rPr dirty="0" sz="3400" spc="-40">
                <a:latin typeface="Lucida Sans Unicode"/>
                <a:cs typeface="Lucida Sans Unicode"/>
              </a:rPr>
              <a:t>relationship </a:t>
            </a:r>
            <a:r>
              <a:rPr dirty="0" sz="3400" spc="-80">
                <a:latin typeface="Lucida Sans Unicode"/>
                <a:cs typeface="Lucida Sans Unicode"/>
              </a:rPr>
              <a:t>in</a:t>
            </a:r>
            <a:r>
              <a:rPr dirty="0" sz="3400" spc="-195">
                <a:latin typeface="Lucida Sans Unicode"/>
                <a:cs typeface="Lucida Sans Unicode"/>
              </a:rPr>
              <a:t> </a:t>
            </a:r>
            <a:r>
              <a:rPr dirty="0" sz="3400" spc="-10">
                <a:latin typeface="Lucida Sans Unicode"/>
                <a:cs typeface="Lucida Sans Unicode"/>
              </a:rPr>
              <a:t>the</a:t>
            </a:r>
            <a:r>
              <a:rPr dirty="0" sz="3400" spc="-235">
                <a:latin typeface="Lucida Sans Unicode"/>
                <a:cs typeface="Lucida Sans Unicode"/>
              </a:rPr>
              <a:t> </a:t>
            </a:r>
            <a:r>
              <a:rPr dirty="0" sz="3400" spc="-10">
                <a:latin typeface="Lucida Sans Unicode"/>
                <a:cs typeface="Lucida Sans Unicode"/>
              </a:rPr>
              <a:t>dataset.</a:t>
            </a:r>
            <a:endParaRPr sz="3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404360">
              <a:lnSpc>
                <a:spcPct val="100000"/>
              </a:lnSpc>
              <a:spcBef>
                <a:spcPts val="100"/>
              </a:spcBef>
            </a:pPr>
            <a:r>
              <a:rPr dirty="0" spc="-980"/>
              <a:t>Key</a:t>
            </a:r>
            <a:r>
              <a:rPr dirty="0" spc="-670"/>
              <a:t> </a:t>
            </a:r>
            <a:r>
              <a:rPr dirty="0" spc="-409"/>
              <a:t>Insights</a:t>
            </a:r>
          </a:p>
        </p:txBody>
      </p:sp>
      <p:sp>
        <p:nvSpPr>
          <p:cNvPr id="3" name="object 3"/>
          <p:cNvSpPr/>
          <p:nvPr/>
        </p:nvSpPr>
        <p:spPr>
          <a:xfrm>
            <a:off x="5483783" y="2707637"/>
            <a:ext cx="8124825" cy="0"/>
          </a:xfrm>
          <a:custGeom>
            <a:avLst/>
            <a:gdLst/>
            <a:ahLst/>
            <a:cxnLst/>
            <a:rect l="l" t="t" r="r" b="b"/>
            <a:pathLst>
              <a:path w="8124825" h="0">
                <a:moveTo>
                  <a:pt x="0" y="0"/>
                </a:moveTo>
                <a:lnTo>
                  <a:pt x="8124433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09991" y="4697353"/>
            <a:ext cx="276225" cy="276225"/>
          </a:xfrm>
          <a:custGeom>
            <a:avLst/>
            <a:gdLst/>
            <a:ahLst/>
            <a:cxnLst/>
            <a:rect l="l" t="t" r="r" b="b"/>
            <a:pathLst>
              <a:path w="276225" h="276225">
                <a:moveTo>
                  <a:pt x="138112" y="276224"/>
                </a:moveTo>
                <a:lnTo>
                  <a:pt x="98020" y="270279"/>
                </a:lnTo>
                <a:lnTo>
                  <a:pt x="61381" y="252948"/>
                </a:lnTo>
                <a:lnTo>
                  <a:pt x="31348" y="225731"/>
                </a:lnTo>
                <a:lnTo>
                  <a:pt x="10513" y="190965"/>
                </a:lnTo>
                <a:lnTo>
                  <a:pt x="663" y="151650"/>
                </a:lnTo>
                <a:lnTo>
                  <a:pt x="0" y="138112"/>
                </a:lnTo>
                <a:lnTo>
                  <a:pt x="165" y="131327"/>
                </a:lnTo>
                <a:lnTo>
                  <a:pt x="8069" y="91591"/>
                </a:lnTo>
                <a:lnTo>
                  <a:pt x="27183" y="55831"/>
                </a:lnTo>
                <a:lnTo>
                  <a:pt x="55831" y="27183"/>
                </a:lnTo>
                <a:lnTo>
                  <a:pt x="91591" y="8069"/>
                </a:lnTo>
                <a:lnTo>
                  <a:pt x="131327" y="165"/>
                </a:lnTo>
                <a:lnTo>
                  <a:pt x="138112" y="0"/>
                </a:lnTo>
                <a:lnTo>
                  <a:pt x="144897" y="165"/>
                </a:lnTo>
                <a:lnTo>
                  <a:pt x="184633" y="8069"/>
                </a:lnTo>
                <a:lnTo>
                  <a:pt x="220393" y="27183"/>
                </a:lnTo>
                <a:lnTo>
                  <a:pt x="249041" y="55831"/>
                </a:lnTo>
                <a:lnTo>
                  <a:pt x="268154" y="91591"/>
                </a:lnTo>
                <a:lnTo>
                  <a:pt x="276059" y="131327"/>
                </a:lnTo>
                <a:lnTo>
                  <a:pt x="276224" y="138112"/>
                </a:lnTo>
                <a:lnTo>
                  <a:pt x="276059" y="144897"/>
                </a:lnTo>
                <a:lnTo>
                  <a:pt x="268154" y="184633"/>
                </a:lnTo>
                <a:lnTo>
                  <a:pt x="249041" y="220393"/>
                </a:lnTo>
                <a:lnTo>
                  <a:pt x="220393" y="249041"/>
                </a:lnTo>
                <a:lnTo>
                  <a:pt x="184633" y="268155"/>
                </a:lnTo>
                <a:lnTo>
                  <a:pt x="144897" y="276059"/>
                </a:lnTo>
                <a:lnTo>
                  <a:pt x="138112" y="2762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09991" y="5668903"/>
            <a:ext cx="276225" cy="276225"/>
          </a:xfrm>
          <a:custGeom>
            <a:avLst/>
            <a:gdLst/>
            <a:ahLst/>
            <a:cxnLst/>
            <a:rect l="l" t="t" r="r" b="b"/>
            <a:pathLst>
              <a:path w="276225" h="276225">
                <a:moveTo>
                  <a:pt x="138112" y="276224"/>
                </a:moveTo>
                <a:lnTo>
                  <a:pt x="98020" y="270279"/>
                </a:lnTo>
                <a:lnTo>
                  <a:pt x="61381" y="252948"/>
                </a:lnTo>
                <a:lnTo>
                  <a:pt x="31348" y="225731"/>
                </a:lnTo>
                <a:lnTo>
                  <a:pt x="10513" y="190965"/>
                </a:lnTo>
                <a:lnTo>
                  <a:pt x="663" y="151650"/>
                </a:lnTo>
                <a:lnTo>
                  <a:pt x="0" y="138112"/>
                </a:lnTo>
                <a:lnTo>
                  <a:pt x="165" y="131327"/>
                </a:lnTo>
                <a:lnTo>
                  <a:pt x="8069" y="91591"/>
                </a:lnTo>
                <a:lnTo>
                  <a:pt x="27183" y="55831"/>
                </a:lnTo>
                <a:lnTo>
                  <a:pt x="55831" y="27183"/>
                </a:lnTo>
                <a:lnTo>
                  <a:pt x="91591" y="8069"/>
                </a:lnTo>
                <a:lnTo>
                  <a:pt x="131327" y="165"/>
                </a:lnTo>
                <a:lnTo>
                  <a:pt x="138112" y="0"/>
                </a:lnTo>
                <a:lnTo>
                  <a:pt x="144897" y="165"/>
                </a:lnTo>
                <a:lnTo>
                  <a:pt x="184633" y="8069"/>
                </a:lnTo>
                <a:lnTo>
                  <a:pt x="220393" y="27183"/>
                </a:lnTo>
                <a:lnTo>
                  <a:pt x="249041" y="55831"/>
                </a:lnTo>
                <a:lnTo>
                  <a:pt x="268154" y="91591"/>
                </a:lnTo>
                <a:lnTo>
                  <a:pt x="276059" y="131327"/>
                </a:lnTo>
                <a:lnTo>
                  <a:pt x="276224" y="138112"/>
                </a:lnTo>
                <a:lnTo>
                  <a:pt x="276059" y="144897"/>
                </a:lnTo>
                <a:lnTo>
                  <a:pt x="268154" y="184633"/>
                </a:lnTo>
                <a:lnTo>
                  <a:pt x="249041" y="220393"/>
                </a:lnTo>
                <a:lnTo>
                  <a:pt x="220393" y="249041"/>
                </a:lnTo>
                <a:lnTo>
                  <a:pt x="184633" y="268155"/>
                </a:lnTo>
                <a:lnTo>
                  <a:pt x="144897" y="276059"/>
                </a:lnTo>
                <a:lnTo>
                  <a:pt x="138112" y="2762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09991" y="6640453"/>
            <a:ext cx="276225" cy="276225"/>
          </a:xfrm>
          <a:custGeom>
            <a:avLst/>
            <a:gdLst/>
            <a:ahLst/>
            <a:cxnLst/>
            <a:rect l="l" t="t" r="r" b="b"/>
            <a:pathLst>
              <a:path w="276225" h="276225">
                <a:moveTo>
                  <a:pt x="138112" y="276224"/>
                </a:moveTo>
                <a:lnTo>
                  <a:pt x="98020" y="270279"/>
                </a:lnTo>
                <a:lnTo>
                  <a:pt x="61381" y="252948"/>
                </a:lnTo>
                <a:lnTo>
                  <a:pt x="31348" y="225730"/>
                </a:lnTo>
                <a:lnTo>
                  <a:pt x="10513" y="190965"/>
                </a:lnTo>
                <a:lnTo>
                  <a:pt x="663" y="151649"/>
                </a:lnTo>
                <a:lnTo>
                  <a:pt x="0" y="138112"/>
                </a:lnTo>
                <a:lnTo>
                  <a:pt x="165" y="131327"/>
                </a:lnTo>
                <a:lnTo>
                  <a:pt x="8069" y="91590"/>
                </a:lnTo>
                <a:lnTo>
                  <a:pt x="27183" y="55831"/>
                </a:lnTo>
                <a:lnTo>
                  <a:pt x="55831" y="27183"/>
                </a:lnTo>
                <a:lnTo>
                  <a:pt x="91591" y="8069"/>
                </a:lnTo>
                <a:lnTo>
                  <a:pt x="131327" y="165"/>
                </a:lnTo>
                <a:lnTo>
                  <a:pt x="138112" y="0"/>
                </a:lnTo>
                <a:lnTo>
                  <a:pt x="144897" y="165"/>
                </a:lnTo>
                <a:lnTo>
                  <a:pt x="184633" y="8069"/>
                </a:lnTo>
                <a:lnTo>
                  <a:pt x="220393" y="27183"/>
                </a:lnTo>
                <a:lnTo>
                  <a:pt x="249041" y="55831"/>
                </a:lnTo>
                <a:lnTo>
                  <a:pt x="268154" y="91590"/>
                </a:lnTo>
                <a:lnTo>
                  <a:pt x="276059" y="131327"/>
                </a:lnTo>
                <a:lnTo>
                  <a:pt x="276224" y="138112"/>
                </a:lnTo>
                <a:lnTo>
                  <a:pt x="276059" y="144897"/>
                </a:lnTo>
                <a:lnTo>
                  <a:pt x="268154" y="184633"/>
                </a:lnTo>
                <a:lnTo>
                  <a:pt x="249041" y="220392"/>
                </a:lnTo>
                <a:lnTo>
                  <a:pt x="220393" y="249041"/>
                </a:lnTo>
                <a:lnTo>
                  <a:pt x="184633" y="268154"/>
                </a:lnTo>
                <a:lnTo>
                  <a:pt x="144897" y="276059"/>
                </a:lnTo>
                <a:lnTo>
                  <a:pt x="138112" y="2762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09991" y="7612003"/>
            <a:ext cx="276225" cy="276225"/>
          </a:xfrm>
          <a:custGeom>
            <a:avLst/>
            <a:gdLst/>
            <a:ahLst/>
            <a:cxnLst/>
            <a:rect l="l" t="t" r="r" b="b"/>
            <a:pathLst>
              <a:path w="276225" h="276225">
                <a:moveTo>
                  <a:pt x="138112" y="276224"/>
                </a:moveTo>
                <a:lnTo>
                  <a:pt x="98020" y="270279"/>
                </a:lnTo>
                <a:lnTo>
                  <a:pt x="61381" y="252948"/>
                </a:lnTo>
                <a:lnTo>
                  <a:pt x="31348" y="225730"/>
                </a:lnTo>
                <a:lnTo>
                  <a:pt x="10513" y="190965"/>
                </a:lnTo>
                <a:lnTo>
                  <a:pt x="663" y="151650"/>
                </a:lnTo>
                <a:lnTo>
                  <a:pt x="0" y="138112"/>
                </a:lnTo>
                <a:lnTo>
                  <a:pt x="165" y="131327"/>
                </a:lnTo>
                <a:lnTo>
                  <a:pt x="8069" y="91590"/>
                </a:lnTo>
                <a:lnTo>
                  <a:pt x="27183" y="55831"/>
                </a:lnTo>
                <a:lnTo>
                  <a:pt x="55831" y="27183"/>
                </a:lnTo>
                <a:lnTo>
                  <a:pt x="91591" y="8069"/>
                </a:lnTo>
                <a:lnTo>
                  <a:pt x="131327" y="165"/>
                </a:lnTo>
                <a:lnTo>
                  <a:pt x="138112" y="0"/>
                </a:lnTo>
                <a:lnTo>
                  <a:pt x="144897" y="165"/>
                </a:lnTo>
                <a:lnTo>
                  <a:pt x="184633" y="8069"/>
                </a:lnTo>
                <a:lnTo>
                  <a:pt x="220393" y="27183"/>
                </a:lnTo>
                <a:lnTo>
                  <a:pt x="249041" y="55831"/>
                </a:lnTo>
                <a:lnTo>
                  <a:pt x="268154" y="91590"/>
                </a:lnTo>
                <a:lnTo>
                  <a:pt x="276059" y="131327"/>
                </a:lnTo>
                <a:lnTo>
                  <a:pt x="276224" y="138112"/>
                </a:lnTo>
                <a:lnTo>
                  <a:pt x="276059" y="144897"/>
                </a:lnTo>
                <a:lnTo>
                  <a:pt x="268154" y="184633"/>
                </a:lnTo>
                <a:lnTo>
                  <a:pt x="249041" y="220392"/>
                </a:lnTo>
                <a:lnTo>
                  <a:pt x="220393" y="249041"/>
                </a:lnTo>
                <a:lnTo>
                  <a:pt x="184633" y="268154"/>
                </a:lnTo>
                <a:lnTo>
                  <a:pt x="144897" y="276059"/>
                </a:lnTo>
                <a:lnTo>
                  <a:pt x="138112" y="2762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520435" y="4271630"/>
            <a:ext cx="14437360" cy="39116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4259580">
              <a:lnSpc>
                <a:spcPct val="117000"/>
              </a:lnSpc>
              <a:spcBef>
                <a:spcPts val="90"/>
              </a:spcBef>
            </a:pPr>
            <a:r>
              <a:rPr dirty="0" sz="5450" spc="-325">
                <a:latin typeface="Arial Black"/>
                <a:cs typeface="Arial Black"/>
              </a:rPr>
              <a:t>RM</a:t>
            </a:r>
            <a:r>
              <a:rPr dirty="0" sz="5450" spc="-385">
                <a:latin typeface="Arial Black"/>
                <a:cs typeface="Arial Black"/>
              </a:rPr>
              <a:t> increases</a:t>
            </a:r>
            <a:r>
              <a:rPr dirty="0" sz="5450" spc="-380">
                <a:latin typeface="Arial Black"/>
                <a:cs typeface="Arial Black"/>
              </a:rPr>
              <a:t> </a:t>
            </a:r>
            <a:r>
              <a:rPr dirty="0" sz="5450" spc="-270">
                <a:latin typeface="Arial Black"/>
                <a:cs typeface="Arial Black"/>
              </a:rPr>
              <a:t>house</a:t>
            </a:r>
            <a:r>
              <a:rPr dirty="0" sz="5450" spc="-385">
                <a:latin typeface="Arial Black"/>
                <a:cs typeface="Arial Black"/>
              </a:rPr>
              <a:t> </a:t>
            </a:r>
            <a:r>
              <a:rPr dirty="0" sz="5450" spc="-370">
                <a:latin typeface="Arial Black"/>
                <a:cs typeface="Arial Black"/>
              </a:rPr>
              <a:t>prices </a:t>
            </a:r>
            <a:r>
              <a:rPr dirty="0" sz="5450" spc="-865">
                <a:latin typeface="Arial Black"/>
                <a:cs typeface="Arial Black"/>
              </a:rPr>
              <a:t>LSTAT</a:t>
            </a:r>
            <a:r>
              <a:rPr dirty="0" sz="5450" spc="-380">
                <a:latin typeface="Arial Black"/>
                <a:cs typeface="Arial Black"/>
              </a:rPr>
              <a:t> </a:t>
            </a:r>
            <a:r>
              <a:rPr dirty="0" sz="5450" spc="-430">
                <a:latin typeface="Arial Black"/>
                <a:cs typeface="Arial Black"/>
              </a:rPr>
              <a:t>decreases</a:t>
            </a:r>
            <a:r>
              <a:rPr dirty="0" sz="5450" spc="-380">
                <a:latin typeface="Arial Black"/>
                <a:cs typeface="Arial Black"/>
              </a:rPr>
              <a:t> </a:t>
            </a:r>
            <a:r>
              <a:rPr dirty="0" sz="5450" spc="-270">
                <a:latin typeface="Arial Black"/>
                <a:cs typeface="Arial Black"/>
              </a:rPr>
              <a:t>house</a:t>
            </a:r>
            <a:r>
              <a:rPr dirty="0" sz="5450" spc="-380">
                <a:latin typeface="Arial Black"/>
                <a:cs typeface="Arial Black"/>
              </a:rPr>
              <a:t> </a:t>
            </a:r>
            <a:r>
              <a:rPr dirty="0" sz="5450" spc="-370">
                <a:latin typeface="Arial Black"/>
                <a:cs typeface="Arial Black"/>
              </a:rPr>
              <a:t>prices</a:t>
            </a:r>
            <a:endParaRPr sz="5450">
              <a:latin typeface="Arial Black"/>
              <a:cs typeface="Arial Black"/>
            </a:endParaRPr>
          </a:p>
          <a:p>
            <a:pPr marL="12700" marR="5080">
              <a:lnSpc>
                <a:spcPts val="7650"/>
              </a:lnSpc>
              <a:spcBef>
                <a:spcPts val="240"/>
              </a:spcBef>
            </a:pPr>
            <a:r>
              <a:rPr dirty="0" sz="5450" spc="-10">
                <a:latin typeface="Lucida Sans Unicode"/>
                <a:cs typeface="Lucida Sans Unicode"/>
              </a:rPr>
              <a:t>Strong</a:t>
            </a:r>
            <a:r>
              <a:rPr dirty="0" sz="5450" spc="-390">
                <a:latin typeface="Lucida Sans Unicode"/>
                <a:cs typeface="Lucida Sans Unicode"/>
              </a:rPr>
              <a:t> </a:t>
            </a:r>
            <a:r>
              <a:rPr dirty="0" sz="5450" spc="-80">
                <a:latin typeface="Lucida Sans Unicode"/>
                <a:cs typeface="Lucida Sans Unicode"/>
              </a:rPr>
              <a:t>relationships</a:t>
            </a:r>
            <a:r>
              <a:rPr dirty="0" sz="5450" spc="-345">
                <a:latin typeface="Lucida Sans Unicode"/>
                <a:cs typeface="Lucida Sans Unicode"/>
              </a:rPr>
              <a:t> </a:t>
            </a:r>
            <a:r>
              <a:rPr dirty="0" sz="5450" spc="-190">
                <a:latin typeface="Lucida Sans Unicode"/>
                <a:cs typeface="Lucida Sans Unicode"/>
              </a:rPr>
              <a:t>exist</a:t>
            </a:r>
            <a:r>
              <a:rPr dirty="0" sz="5450" spc="-300">
                <a:latin typeface="Lucida Sans Unicode"/>
                <a:cs typeface="Lucida Sans Unicode"/>
              </a:rPr>
              <a:t> </a:t>
            </a:r>
            <a:r>
              <a:rPr dirty="0" sz="5450" spc="-50">
                <a:latin typeface="Lucida Sans Unicode"/>
                <a:cs typeface="Lucida Sans Unicode"/>
              </a:rPr>
              <a:t>in</a:t>
            </a:r>
            <a:r>
              <a:rPr dirty="0" sz="5450" spc="-345">
                <a:latin typeface="Lucida Sans Unicode"/>
                <a:cs typeface="Lucida Sans Unicode"/>
              </a:rPr>
              <a:t> </a:t>
            </a:r>
            <a:r>
              <a:rPr dirty="0" sz="5450">
                <a:latin typeface="Lucida Sans Unicode"/>
                <a:cs typeface="Lucida Sans Unicode"/>
              </a:rPr>
              <a:t>the</a:t>
            </a:r>
            <a:r>
              <a:rPr dirty="0" sz="5450" spc="-340">
                <a:latin typeface="Lucida Sans Unicode"/>
                <a:cs typeface="Lucida Sans Unicode"/>
              </a:rPr>
              <a:t> </a:t>
            </a:r>
            <a:r>
              <a:rPr dirty="0" sz="5450" spc="-10">
                <a:latin typeface="Lucida Sans Unicode"/>
                <a:cs typeface="Lucida Sans Unicode"/>
              </a:rPr>
              <a:t>data. </a:t>
            </a:r>
            <a:r>
              <a:rPr dirty="0" sz="5450">
                <a:latin typeface="Lucida Sans Unicode"/>
                <a:cs typeface="Lucida Sans Unicode"/>
              </a:rPr>
              <a:t>Bigger</a:t>
            </a:r>
            <a:r>
              <a:rPr dirty="0" sz="5450" spc="-310">
                <a:latin typeface="Lucida Sans Unicode"/>
                <a:cs typeface="Lucida Sans Unicode"/>
              </a:rPr>
              <a:t> </a:t>
            </a:r>
            <a:r>
              <a:rPr dirty="0" sz="5450" spc="-55">
                <a:latin typeface="Lucida Sans Unicode"/>
                <a:cs typeface="Lucida Sans Unicode"/>
              </a:rPr>
              <a:t>houses</a:t>
            </a:r>
            <a:r>
              <a:rPr dirty="0" sz="5450" spc="-305">
                <a:latin typeface="Lucida Sans Unicode"/>
                <a:cs typeface="Lucida Sans Unicode"/>
              </a:rPr>
              <a:t> </a:t>
            </a:r>
            <a:r>
              <a:rPr dirty="0" sz="5450">
                <a:latin typeface="Lucida Sans Unicode"/>
                <a:cs typeface="Lucida Sans Unicode"/>
              </a:rPr>
              <a:t>are</a:t>
            </a:r>
            <a:r>
              <a:rPr dirty="0" sz="5450" spc="-305">
                <a:latin typeface="Lucida Sans Unicode"/>
                <a:cs typeface="Lucida Sans Unicode"/>
              </a:rPr>
              <a:t> </a:t>
            </a:r>
            <a:r>
              <a:rPr dirty="0" sz="5450" spc="-75">
                <a:latin typeface="Lucida Sans Unicode"/>
                <a:cs typeface="Lucida Sans Unicode"/>
              </a:rPr>
              <a:t>usually</a:t>
            </a:r>
            <a:r>
              <a:rPr dirty="0" sz="5450" spc="-305">
                <a:latin typeface="Lucida Sans Unicode"/>
                <a:cs typeface="Lucida Sans Unicode"/>
              </a:rPr>
              <a:t> </a:t>
            </a:r>
            <a:r>
              <a:rPr dirty="0" sz="5450" spc="-50">
                <a:latin typeface="Lucida Sans Unicode"/>
                <a:cs typeface="Lucida Sans Unicode"/>
              </a:rPr>
              <a:t>in</a:t>
            </a:r>
            <a:r>
              <a:rPr dirty="0" sz="5450" spc="-305">
                <a:latin typeface="Lucida Sans Unicode"/>
                <a:cs typeface="Lucida Sans Unicode"/>
              </a:rPr>
              <a:t> </a:t>
            </a:r>
            <a:r>
              <a:rPr dirty="0" sz="5450" spc="-10">
                <a:latin typeface="Lucida Sans Unicode"/>
                <a:cs typeface="Lucida Sans Unicode"/>
              </a:rPr>
              <a:t>wealthier</a:t>
            </a:r>
            <a:r>
              <a:rPr dirty="0" sz="5450" spc="-305">
                <a:latin typeface="Lucida Sans Unicode"/>
                <a:cs typeface="Lucida Sans Unicode"/>
              </a:rPr>
              <a:t> </a:t>
            </a:r>
            <a:r>
              <a:rPr dirty="0" sz="5450" spc="-20">
                <a:latin typeface="Lucida Sans Unicode"/>
                <a:cs typeface="Lucida Sans Unicode"/>
              </a:rPr>
              <a:t>areas</a:t>
            </a:r>
            <a:endParaRPr sz="54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379595">
              <a:lnSpc>
                <a:spcPct val="100000"/>
              </a:lnSpc>
              <a:spcBef>
                <a:spcPts val="100"/>
              </a:spcBef>
            </a:pPr>
            <a:r>
              <a:rPr dirty="0" spc="-590"/>
              <a:t>Conclusion</a:t>
            </a:r>
          </a:p>
        </p:txBody>
      </p:sp>
      <p:sp>
        <p:nvSpPr>
          <p:cNvPr id="3" name="object 3"/>
          <p:cNvSpPr/>
          <p:nvPr/>
        </p:nvSpPr>
        <p:spPr>
          <a:xfrm>
            <a:off x="5439734" y="2423794"/>
            <a:ext cx="7615555" cy="0"/>
          </a:xfrm>
          <a:custGeom>
            <a:avLst/>
            <a:gdLst/>
            <a:ahLst/>
            <a:cxnLst/>
            <a:rect l="l" t="t" r="r" b="b"/>
            <a:pathLst>
              <a:path w="7615555" h="0">
                <a:moveTo>
                  <a:pt x="0" y="0"/>
                </a:moveTo>
                <a:lnTo>
                  <a:pt x="7615254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5"/>
              <a:t>House</a:t>
            </a:r>
            <a:r>
              <a:rPr dirty="0" spc="-290"/>
              <a:t> </a:t>
            </a:r>
            <a:r>
              <a:rPr dirty="0" spc="-90"/>
              <a:t>prices</a:t>
            </a:r>
            <a:r>
              <a:rPr dirty="0" spc="-280"/>
              <a:t> </a:t>
            </a:r>
            <a:r>
              <a:rPr dirty="0"/>
              <a:t>are</a:t>
            </a:r>
            <a:r>
              <a:rPr dirty="0" spc="-285"/>
              <a:t> </a:t>
            </a:r>
            <a:r>
              <a:rPr dirty="0" spc="-65"/>
              <a:t>affected</a:t>
            </a:r>
            <a:r>
              <a:rPr dirty="0" spc="-280"/>
              <a:t> </a:t>
            </a:r>
            <a:r>
              <a:rPr dirty="0" spc="-140"/>
              <a:t>by</a:t>
            </a:r>
            <a:r>
              <a:rPr dirty="0" spc="-275"/>
              <a:t> </a:t>
            </a:r>
            <a:r>
              <a:rPr dirty="0" spc="-80"/>
              <a:t>multiple</a:t>
            </a:r>
            <a:r>
              <a:rPr dirty="0" spc="-280"/>
              <a:t> </a:t>
            </a:r>
            <a:r>
              <a:rPr dirty="0" spc="-10"/>
              <a:t>factors.</a:t>
            </a:r>
          </a:p>
          <a:p>
            <a:pPr>
              <a:lnSpc>
                <a:spcPct val="100000"/>
              </a:lnSpc>
              <a:spcBef>
                <a:spcPts val="210"/>
              </a:spcBef>
            </a:p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385">
                <a:latin typeface="Arial Black"/>
                <a:cs typeface="Arial Black"/>
              </a:rPr>
              <a:t>The</a:t>
            </a:r>
            <a:r>
              <a:rPr dirty="0" spc="-340">
                <a:latin typeface="Arial Black"/>
                <a:cs typeface="Arial Black"/>
              </a:rPr>
              <a:t> </a:t>
            </a:r>
            <a:r>
              <a:rPr dirty="0" spc="-245">
                <a:latin typeface="Arial Black"/>
                <a:cs typeface="Arial Black"/>
              </a:rPr>
              <a:t>most</a:t>
            </a:r>
            <a:r>
              <a:rPr dirty="0" spc="-335">
                <a:latin typeface="Arial Black"/>
                <a:cs typeface="Arial Black"/>
              </a:rPr>
              <a:t> </a:t>
            </a:r>
            <a:r>
              <a:rPr dirty="0" spc="-125">
                <a:latin typeface="Arial Black"/>
                <a:cs typeface="Arial Black"/>
              </a:rPr>
              <a:t>important</a:t>
            </a:r>
            <a:r>
              <a:rPr dirty="0" spc="-340">
                <a:latin typeface="Arial Black"/>
                <a:cs typeface="Arial Black"/>
              </a:rPr>
              <a:t> </a:t>
            </a:r>
            <a:r>
              <a:rPr dirty="0" spc="-320">
                <a:latin typeface="Arial Black"/>
                <a:cs typeface="Arial Black"/>
              </a:rPr>
              <a:t>ones</a:t>
            </a:r>
            <a:r>
              <a:rPr dirty="0" spc="-335">
                <a:latin typeface="Arial Black"/>
                <a:cs typeface="Arial Black"/>
              </a:rPr>
              <a:t> </a:t>
            </a:r>
            <a:r>
              <a:rPr dirty="0" spc="-275">
                <a:latin typeface="Arial Black"/>
                <a:cs typeface="Arial Black"/>
              </a:rPr>
              <a:t>are:</a:t>
            </a:r>
          </a:p>
          <a:p>
            <a:pPr marL="367665" indent="-365125">
              <a:lnSpc>
                <a:spcPct val="100000"/>
              </a:lnSpc>
              <a:spcBef>
                <a:spcPts val="915"/>
              </a:spcBef>
              <a:buChar char="-"/>
              <a:tabLst>
                <a:tab pos="367665" algn="l"/>
              </a:tabLst>
            </a:pPr>
            <a:r>
              <a:rPr dirty="0"/>
              <a:t>Number</a:t>
            </a:r>
            <a:r>
              <a:rPr dirty="0" spc="-290"/>
              <a:t> </a:t>
            </a:r>
            <a:r>
              <a:rPr dirty="0" spc="-85"/>
              <a:t>of</a:t>
            </a:r>
            <a:r>
              <a:rPr dirty="0" spc="-285"/>
              <a:t> </a:t>
            </a:r>
            <a:r>
              <a:rPr dirty="0" spc="-70"/>
              <a:t>rooms</a:t>
            </a:r>
            <a:r>
              <a:rPr dirty="0" spc="-290"/>
              <a:t> </a:t>
            </a:r>
            <a:r>
              <a:rPr dirty="0" spc="-20"/>
              <a:t>(RM)</a:t>
            </a:r>
          </a:p>
          <a:p>
            <a:pPr marL="367665" indent="-365125">
              <a:lnSpc>
                <a:spcPct val="100000"/>
              </a:lnSpc>
              <a:spcBef>
                <a:spcPts val="915"/>
              </a:spcBef>
              <a:buChar char="-"/>
              <a:tabLst>
                <a:tab pos="367665" algn="l"/>
              </a:tabLst>
            </a:pPr>
            <a:r>
              <a:rPr dirty="0" spc="-235"/>
              <a:t>Lower-</a:t>
            </a:r>
            <a:r>
              <a:rPr dirty="0" spc="-80"/>
              <a:t>status</a:t>
            </a:r>
            <a:r>
              <a:rPr dirty="0" spc="-270"/>
              <a:t> </a:t>
            </a:r>
            <a:r>
              <a:rPr dirty="0" spc="-70"/>
              <a:t>population</a:t>
            </a:r>
            <a:r>
              <a:rPr dirty="0" spc="-270"/>
              <a:t> </a:t>
            </a:r>
            <a:r>
              <a:rPr dirty="0" spc="-300"/>
              <a:t>(LSTAT)</a:t>
            </a:r>
          </a:p>
          <a:p>
            <a:pPr marL="12700" marR="5080">
              <a:lnSpc>
                <a:spcPct val="115700"/>
              </a:lnSpc>
              <a:spcBef>
                <a:spcPts val="6725"/>
              </a:spcBef>
            </a:pPr>
            <a:r>
              <a:rPr dirty="0" sz="4700" spc="-45"/>
              <a:t>Understanding</a:t>
            </a:r>
            <a:r>
              <a:rPr dirty="0" sz="4700" spc="-250"/>
              <a:t> </a:t>
            </a:r>
            <a:r>
              <a:rPr dirty="0" sz="4700" spc="-35"/>
              <a:t>these</a:t>
            </a:r>
            <a:r>
              <a:rPr dirty="0" sz="4700" spc="-250"/>
              <a:t> </a:t>
            </a:r>
            <a:r>
              <a:rPr dirty="0" sz="4700" spc="-100"/>
              <a:t>relationships</a:t>
            </a:r>
            <a:r>
              <a:rPr dirty="0" sz="4700" spc="-250"/>
              <a:t> </a:t>
            </a:r>
            <a:r>
              <a:rPr dirty="0" sz="4700" spc="-90"/>
              <a:t>helps</a:t>
            </a:r>
            <a:r>
              <a:rPr dirty="0" sz="4700" spc="-250"/>
              <a:t> </a:t>
            </a:r>
            <a:r>
              <a:rPr dirty="0" sz="4700" spc="-100"/>
              <a:t>in</a:t>
            </a:r>
            <a:r>
              <a:rPr dirty="0" sz="4700" spc="-250"/>
              <a:t> </a:t>
            </a:r>
            <a:r>
              <a:rPr dirty="0" sz="4700" spc="-100"/>
              <a:t>predicting</a:t>
            </a:r>
            <a:r>
              <a:rPr dirty="0" sz="4700" spc="-250"/>
              <a:t> </a:t>
            </a:r>
            <a:r>
              <a:rPr dirty="0" sz="4700" spc="-20"/>
              <a:t>house </a:t>
            </a:r>
            <a:r>
              <a:rPr dirty="0" sz="4700" spc="-10"/>
              <a:t>prices.</a:t>
            </a:r>
            <a:endParaRPr sz="4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Saif Aleslam Eprahim Giwaly</dc:creator>
  <cp:keywords>DAHH9IchMAQ,BAG_mI6E83A,0</cp:keywords>
  <dc:title>Boston Housing Analysis</dc:title>
  <dcterms:created xsi:type="dcterms:W3CDTF">2026-04-26T14:28:33Z</dcterms:created>
  <dcterms:modified xsi:type="dcterms:W3CDTF">2026-04-26T14:28:33Z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2026-04-26T00:00:00Z</vt:filetime>
  </property>
  <property fmtid="{D5CDD505-2E9C-101B-9397-08002B2CF9AE}" pid="4" name="Creator">
    <vt:lpwstr>Canva</vt:lpwstr>
  </property>
  <property fmtid="{D5CDD505-2E9C-101B-9397-08002B2CF9AE}" pid="5" name="LastSaved">
    <vt:filetime>2026-04-26T00:00:00Z</vt:filetime>
  </property>
  <property fmtid="{D5CDD505-2E9C-101B-9397-08002B2CF9AE}" pid="6" name="Producer">
    <vt:lpwstr>Canva</vt:lpwstr>
  </property>
</Properties>
</file>